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405" r:id="rId157"/>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notesMaster" Target="notesMasters/notesMaster1.xml"/><Relationship Id="rId157" Type="http://schemas.openxmlformats.org/officeDocument/2006/relationships/slide" Target="slides/slide15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Ideal</c:v>
                </c:pt>
              </c:strCache>
            </c:strRef>
          </c:tx>
          <c:spPr>
            <a:solidFill>
              <a:srgbClr val="1F6FEB"/>
            </a:solidFill>
            <a:ln w="28575">
              <a:solidFill>
                <a:srgbClr val="1F6FEB"/>
              </a:solidFill>
            </a:ln>
          </c:spPr>
          <c:cat>
            <c:strRef>
              <c:f>Sheet1!$A$2:$A$11</c:f>
              <c:strCache>
                <c:ptCount val="10"/>
                <c:pt idx="0">
                  <c:v>D1</c:v>
                </c:pt>
                <c:pt idx="1">
                  <c:v>D2</c:v>
                </c:pt>
                <c:pt idx="2">
                  <c:v>D3</c:v>
                </c:pt>
                <c:pt idx="3">
                  <c:v>D4</c:v>
                </c:pt>
                <c:pt idx="4">
                  <c:v>D5</c:v>
                </c:pt>
                <c:pt idx="5">
                  <c:v>D6</c:v>
                </c:pt>
                <c:pt idx="6">
                  <c:v>D7</c:v>
                </c:pt>
                <c:pt idx="7">
                  <c:v>D8</c:v>
                </c:pt>
                <c:pt idx="8">
                  <c:v>D9</c:v>
                </c:pt>
                <c:pt idx="9">
                  <c:v>D10</c:v>
                </c:pt>
              </c:strCache>
            </c:strRef>
          </c:cat>
          <c:val>
            <c:numRef>
              <c:f>Sheet1!$B$2:$B$11</c:f>
              <c:numCache>
                <c:formatCode>General</c:formatCode>
                <c:ptCount val="10"/>
                <c:pt idx="0">
                  <c:v>40</c:v>
                </c:pt>
                <c:pt idx="1">
                  <c:v>36</c:v>
                </c:pt>
                <c:pt idx="2">
                  <c:v>32</c:v>
                </c:pt>
                <c:pt idx="3">
                  <c:v>28</c:v>
                </c:pt>
                <c:pt idx="4">
                  <c:v>24</c:v>
                </c:pt>
                <c:pt idx="5">
                  <c:v>20</c:v>
                </c:pt>
                <c:pt idx="6">
                  <c:v>16</c:v>
                </c:pt>
                <c:pt idx="7">
                  <c:v>12</c:v>
                </c:pt>
                <c:pt idx="8">
                  <c:v>8</c:v>
                </c:pt>
                <c:pt idx="9">
                  <c:v>4</c:v>
                </c:pt>
              </c:numCache>
            </c:numRef>
          </c:val>
          <c:smooth val="0"/>
        </c:ser>
        <c:ser>
          <c:idx val="1"/>
          <c:order val="1"/>
          <c:tx>
            <c:strRef>
              <c:f>Sheet1!$C$1</c:f>
              <c:strCache>
                <c:ptCount val="1"/>
                <c:pt idx="0">
                  <c:v>Actual</c:v>
                </c:pt>
              </c:strCache>
            </c:strRef>
          </c:tx>
          <c:spPr>
            <a:solidFill>
              <a:srgbClr val="008C95"/>
            </a:solidFill>
            <a:ln w="28575">
              <a:solidFill>
                <a:srgbClr val="008C95"/>
              </a:solidFill>
            </a:ln>
          </c:spPr>
          <c:cat>
            <c:strRef>
              <c:f>Sheet1!$A$2:$A$11</c:f>
              <c:strCache>
                <c:ptCount val="10"/>
                <c:pt idx="0">
                  <c:v>D1</c:v>
                </c:pt>
                <c:pt idx="1">
                  <c:v>D2</c:v>
                </c:pt>
                <c:pt idx="2">
                  <c:v>D3</c:v>
                </c:pt>
                <c:pt idx="3">
                  <c:v>D4</c:v>
                </c:pt>
                <c:pt idx="4">
                  <c:v>D5</c:v>
                </c:pt>
                <c:pt idx="5">
                  <c:v>D6</c:v>
                </c:pt>
                <c:pt idx="6">
                  <c:v>D7</c:v>
                </c:pt>
                <c:pt idx="7">
                  <c:v>D8</c:v>
                </c:pt>
                <c:pt idx="8">
                  <c:v>D9</c:v>
                </c:pt>
                <c:pt idx="9">
                  <c:v>D10</c:v>
                </c:pt>
              </c:strCache>
            </c:strRef>
          </c:cat>
          <c:val>
            <c:numRef>
              <c:f>Sheet1!$C$2:$C$11</c:f>
              <c:numCache>
                <c:formatCode>General</c:formatCode>
                <c:ptCount val="10"/>
                <c:pt idx="0">
                  <c:v>40</c:v>
                </c:pt>
                <c:pt idx="1">
                  <c:v>39</c:v>
                </c:pt>
                <c:pt idx="2">
                  <c:v>37</c:v>
                </c:pt>
                <c:pt idx="3">
                  <c:v>35</c:v>
                </c:pt>
                <c:pt idx="4">
                  <c:v>31</c:v>
                </c:pt>
                <c:pt idx="5">
                  <c:v>28</c:v>
                </c:pt>
                <c:pt idx="6">
                  <c:v>25</c:v>
                </c:pt>
                <c:pt idx="7">
                  <c:v>18</c:v>
                </c:pt>
                <c:pt idx="8">
                  <c:v>12</c:v>
                </c:pt>
                <c:pt idx="9">
                  <c:v>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latin typeface="Arial"/>
              </a:defRPr>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0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Done</c:v>
                </c:pt>
              </c:strCache>
            </c:strRef>
          </c:tx>
          <c:spPr>
            <a:solidFill>
              <a:srgbClr val="1F6FEB"/>
            </a:solidFill>
            <a:ln w="28575">
              <a:solidFill>
                <a:srgbClr val="1F6FEB"/>
              </a:solidFill>
            </a:ln>
          </c:spPr>
          <c:cat>
            <c:strRef>
              <c:f>Sheet1!$A$2:$A$11</c:f>
              <c:strCache>
                <c:ptCount val="10"/>
                <c:pt idx="0">
                  <c:v>D1</c:v>
                </c:pt>
                <c:pt idx="1">
                  <c:v>D2</c:v>
                </c:pt>
                <c:pt idx="2">
                  <c:v>D3</c:v>
                </c:pt>
                <c:pt idx="3">
                  <c:v>D4</c:v>
                </c:pt>
                <c:pt idx="4">
                  <c:v>D5</c:v>
                </c:pt>
                <c:pt idx="5">
                  <c:v>D6</c:v>
                </c:pt>
                <c:pt idx="6">
                  <c:v>D7</c:v>
                </c:pt>
                <c:pt idx="7">
                  <c:v>D8</c:v>
                </c:pt>
                <c:pt idx="8">
                  <c:v>D9</c:v>
                </c:pt>
                <c:pt idx="9">
                  <c:v>D10</c:v>
                </c:pt>
              </c:strCache>
            </c:strRef>
          </c:cat>
          <c:val>
            <c:numRef>
              <c:f>Sheet1!$B$2:$B$11</c:f>
              <c:numCache>
                <c:formatCode>General</c:formatCode>
                <c:ptCount val="10"/>
                <c:pt idx="0">
                  <c:v>0</c:v>
                </c:pt>
                <c:pt idx="1">
                  <c:v>3</c:v>
                </c:pt>
                <c:pt idx="2">
                  <c:v>6</c:v>
                </c:pt>
                <c:pt idx="3">
                  <c:v>10</c:v>
                </c:pt>
                <c:pt idx="4">
                  <c:v>14</c:v>
                </c:pt>
                <c:pt idx="5">
                  <c:v>19</c:v>
                </c:pt>
                <c:pt idx="6">
                  <c:v>25</c:v>
                </c:pt>
                <c:pt idx="7">
                  <c:v>31</c:v>
                </c:pt>
                <c:pt idx="8">
                  <c:v>36</c:v>
                </c:pt>
                <c:pt idx="9">
                  <c:v>42</c:v>
                </c:pt>
              </c:numCache>
            </c:numRef>
          </c:val>
          <c:smooth val="0"/>
        </c:ser>
        <c:ser>
          <c:idx val="1"/>
          <c:order val="1"/>
          <c:tx>
            <c:strRef>
              <c:f>Sheet1!$C$1</c:f>
              <c:strCache>
                <c:ptCount val="1"/>
                <c:pt idx="0">
                  <c:v>Scope</c:v>
                </c:pt>
              </c:strCache>
            </c:strRef>
          </c:tx>
          <c:spPr>
            <a:solidFill>
              <a:srgbClr val="008C95"/>
            </a:solidFill>
            <a:ln w="28575">
              <a:solidFill>
                <a:srgbClr val="008C95"/>
              </a:solidFill>
            </a:ln>
          </c:spPr>
          <c:cat>
            <c:strRef>
              <c:f>Sheet1!$A$2:$A$11</c:f>
              <c:strCache>
                <c:ptCount val="10"/>
                <c:pt idx="0">
                  <c:v>D1</c:v>
                </c:pt>
                <c:pt idx="1">
                  <c:v>D2</c:v>
                </c:pt>
                <c:pt idx="2">
                  <c:v>D3</c:v>
                </c:pt>
                <c:pt idx="3">
                  <c:v>D4</c:v>
                </c:pt>
                <c:pt idx="4">
                  <c:v>D5</c:v>
                </c:pt>
                <c:pt idx="5">
                  <c:v>D6</c:v>
                </c:pt>
                <c:pt idx="6">
                  <c:v>D7</c:v>
                </c:pt>
                <c:pt idx="7">
                  <c:v>D8</c:v>
                </c:pt>
                <c:pt idx="8">
                  <c:v>D9</c:v>
                </c:pt>
                <c:pt idx="9">
                  <c:v>D10</c:v>
                </c:pt>
              </c:strCache>
            </c:strRef>
          </c:cat>
          <c:val>
            <c:numRef>
              <c:f>Sheet1!$C$2:$C$11</c:f>
              <c:numCache>
                <c:formatCode>General</c:formatCode>
                <c:ptCount val="10"/>
                <c:pt idx="0">
                  <c:v>40</c:v>
                </c:pt>
                <c:pt idx="1">
                  <c:v>40</c:v>
                </c:pt>
                <c:pt idx="2">
                  <c:v>40</c:v>
                </c:pt>
                <c:pt idx="3">
                  <c:v>44</c:v>
                </c:pt>
                <c:pt idx="4">
                  <c:v>44</c:v>
                </c:pt>
                <c:pt idx="5">
                  <c:v>44</c:v>
                </c:pt>
                <c:pt idx="6">
                  <c:v>48</c:v>
                </c:pt>
                <c:pt idx="7">
                  <c:v>48</c:v>
                </c:pt>
                <c:pt idx="8">
                  <c:v>48</c:v>
                </c:pt>
                <c:pt idx="9">
                  <c:v>48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latin typeface="Arial"/>
              </a:defRPr>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0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Days</c:v>
                </c:pt>
              </c:strCache>
            </c:strRef>
          </c:tx>
          <c:spPr>
            <a:solidFill>
              <a:srgbClr val="1F6FEB"/>
            </a:solidFill>
            <a:ln w="28575">
              <a:solidFill>
                <a:srgbClr val="1F6FEB"/>
              </a:solidFill>
            </a:ln>
          </c:spPr>
          <c:cat>
            <c:strRef>
              <c:f>Sheet1!$A$2:$A$9</c:f>
              <c:strCache>
                <c:ptCount val="8"/>
                <c:pt idx="0">
                  <c:v>A</c:v>
                </c:pt>
                <c:pt idx="1">
                  <c:v>B</c:v>
                </c:pt>
                <c:pt idx="2">
                  <c:v>C</c:v>
                </c:pt>
                <c:pt idx="3">
                  <c:v>D</c:v>
                </c:pt>
                <c:pt idx="4">
                  <c:v>E</c:v>
                </c:pt>
                <c:pt idx="5">
                  <c:v>F</c:v>
                </c:pt>
                <c:pt idx="6">
                  <c:v>G</c:v>
                </c:pt>
                <c:pt idx="7">
                  <c:v>H</c:v>
                </c:pt>
              </c:strCache>
            </c:strRef>
          </c:cat>
          <c:val>
            <c:numRef>
              <c:f>Sheet1!$B$2:$B$9</c:f>
              <c:numCache>
                <c:formatCode>General</c:formatCode>
                <c:ptCount val="8"/>
                <c:pt idx="0">
                  <c:v>3</c:v>
                </c:pt>
                <c:pt idx="1">
                  <c:v>5</c:v>
                </c:pt>
                <c:pt idx="2">
                  <c:v>4</c:v>
                </c:pt>
                <c:pt idx="3">
                  <c:v>9</c:v>
                </c:pt>
                <c:pt idx="4">
                  <c:v>6</c:v>
                </c:pt>
                <c:pt idx="5">
                  <c:v>12</c:v>
                </c:pt>
                <c:pt idx="6">
                  <c:v>5</c:v>
                </c:pt>
                <c:pt idx="7">
                  <c:v>7</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The Scrum Guide (2020): https://scrumguides.org/docs/scrumguide/v2020/2020-Scrum-Guide-US.pdf</a:t>
            </a:r>
          </a:p>
          <a:p>
            <a:r>
              <a:t>Course source register: SOURCE-COVERAGE-v6.0.md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45803-Scrum-Master-Fundamentals-for-High-Performing-Team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9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9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45803-Scrum-Master-Fundamentals-for-High-Performing-Teams" TargetMode="External"/><Relationship Id="rId3"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6.png"/>
          <p:cNvPicPr>
            <a:picLocks noChangeAspect="1"/>
          </p:cNvPicPr>
          <p:nvPr/>
        </p:nvPicPr>
        <p:blipFill>
          <a:blip r:embed="rId2"/>
          <a:srcRect t="25" b="25"/>
          <a:stretch>
            <a:fillRect/>
          </a:stretch>
        </p:blipFill>
        <p:spPr>
          <a:xfrm>
            <a:off x="0" y="0"/>
            <a:ext cx="12191695" cy="6858000"/>
          </a:xfrm>
          <a:prstGeom prst="rect">
            <a:avLst/>
          </a:prstGeom>
        </p:spPr>
      </p:pic>
      <p:sp>
        <p:nvSpPr>
          <p:cNvPr id="4" name="Rectangle 3"/>
          <p:cNvSpPr/>
          <p:nvPr/>
        </p:nvSpPr>
        <p:spPr>
          <a:xfrm>
            <a:off x="0" y="0"/>
            <a:ext cx="6995160"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28016"/>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30352"/>
            <a:ext cx="5715000" cy="292608"/>
          </a:xfrm>
          <a:prstGeom prst="rect">
            <a:avLst/>
          </a:prstGeom>
          <a:noFill/>
        </p:spPr>
        <p:txBody>
          <a:bodyPr wrap="square" lIns="54864" rIns="54864" tIns="54864" bIns="54864" anchor="t">
            <a:spAutoFit/>
          </a:bodyPr>
          <a:lstStyle/>
          <a:p>
            <a:pPr algn="l"/>
            <a:r>
              <a:rPr sz="1000" b="1" i="0">
                <a:solidFill>
                  <a:srgbClr val="008C95"/>
                </a:solidFill>
                <a:latin typeface="Arial"/>
              </a:rPr>
              <a:t>WSQ | BUSINESS AGILITY</a:t>
            </a:r>
          </a:p>
        </p:txBody>
      </p:sp>
      <p:sp>
        <p:nvSpPr>
          <p:cNvPr id="7" name="TextBox 6"/>
          <p:cNvSpPr txBox="1"/>
          <p:nvPr/>
        </p:nvSpPr>
        <p:spPr>
          <a:xfrm>
            <a:off x="658368" y="1051560"/>
            <a:ext cx="5806440" cy="2057400"/>
          </a:xfrm>
          <a:prstGeom prst="rect">
            <a:avLst/>
          </a:prstGeom>
          <a:noFill/>
        </p:spPr>
        <p:txBody>
          <a:bodyPr wrap="square" lIns="54864" rIns="54864" tIns="54864" bIns="54864" anchor="t">
            <a:spAutoFit/>
          </a:bodyPr>
          <a:lstStyle/>
          <a:p>
            <a:pPr algn="l"/>
            <a:r>
              <a:rPr sz="3100" b="1" i="0">
                <a:solidFill>
                  <a:srgbClr val="0E2A47"/>
                </a:solidFill>
                <a:latin typeface="Arial"/>
              </a:rPr>
              <a:t>Scrum Master Fundamentals for High-Performing Teams</a:t>
            </a:r>
          </a:p>
        </p:txBody>
      </p:sp>
      <p:sp>
        <p:nvSpPr>
          <p:cNvPr id="8" name="TextBox 7"/>
          <p:cNvSpPr txBox="1"/>
          <p:nvPr/>
        </p:nvSpPr>
        <p:spPr>
          <a:xfrm>
            <a:off x="694944" y="3319272"/>
            <a:ext cx="5257800" cy="640080"/>
          </a:xfrm>
          <a:prstGeom prst="rect">
            <a:avLst/>
          </a:prstGeom>
          <a:noFill/>
        </p:spPr>
        <p:txBody>
          <a:bodyPr wrap="square" lIns="54864" rIns="54864" tIns="54864" bIns="54864" anchor="t">
            <a:spAutoFit/>
          </a:bodyPr>
          <a:lstStyle/>
          <a:p>
            <a:pPr algn="l"/>
            <a:r>
              <a:rPr sz="1700" b="0" i="1">
                <a:solidFill>
                  <a:srgbClr val="5C6677"/>
                </a:solidFill>
                <a:latin typeface="Arial"/>
              </a:rPr>
              <a:t>Build a Scrum system where evidence guides decisions and teams own improvement.</a:t>
            </a:r>
          </a:p>
        </p:txBody>
      </p:sp>
      <p:sp>
        <p:nvSpPr>
          <p:cNvPr id="9" name="TextBox 8"/>
          <p:cNvSpPr txBox="1"/>
          <p:nvPr/>
        </p:nvSpPr>
        <p:spPr>
          <a:xfrm>
            <a:off x="694944" y="4261104"/>
            <a:ext cx="5303520" cy="731520"/>
          </a:xfrm>
          <a:prstGeom prst="rect">
            <a:avLst/>
          </a:prstGeom>
          <a:noFill/>
        </p:spPr>
        <p:txBody>
          <a:bodyPr wrap="square" lIns="54864" rIns="54864" tIns="54864" bIns="54864" anchor="t">
            <a:spAutoFit/>
          </a:bodyPr>
          <a:lstStyle/>
          <a:p>
            <a:pPr algn="l"/>
            <a:r>
              <a:rPr sz="1200" b="0" i="0">
                <a:solidFill>
                  <a:srgbClr val="131B2A"/>
                </a:solidFill>
                <a:latin typeface="Arial"/>
              </a:rPr>
              <a:t>Course Code: TGS-2024045803
Trainer: Dr. Alfred Ang
Version v6.0 | 22 August 2026</a:t>
            </a:r>
          </a:p>
        </p:txBody>
      </p:sp>
      <p:sp>
        <p:nvSpPr>
          <p:cNvPr id="10" name="TextBox 9"/>
          <p:cNvSpPr txBox="1"/>
          <p:nvPr/>
        </p:nvSpPr>
        <p:spPr>
          <a:xfrm>
            <a:off x="694944" y="5696712"/>
            <a:ext cx="5349240" cy="548640"/>
          </a:xfrm>
          <a:prstGeom prst="rect">
            <a:avLst/>
          </a:prstGeom>
          <a:noFill/>
        </p:spPr>
        <p:txBody>
          <a:bodyPr wrap="square" lIns="54864" rIns="54864" tIns="54864" bIns="54864" anchor="t">
            <a:spAutoFit/>
          </a:bodyPr>
          <a:lstStyle/>
          <a:p>
            <a:pPr algn="l"/>
            <a:r>
              <a:rPr sz="1000" b="1" i="0">
                <a:solidFill>
                  <a:srgbClr val="0E2A47"/>
                </a:solidFill>
                <a:latin typeface="Arial"/>
              </a:rPr>
              <a:t>Tertiary Infotech Academy Pte Ltd | UEN 201200696W</a:t>
            </a:r>
          </a:p>
        </p:txBody>
      </p:sp>
      <p:sp>
        <p:nvSpPr>
          <p:cNvPr id="11" name="TextBox 1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2" name="TextBox 1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00</a:t>
            </a:r>
          </a:p>
        </p:txBody>
      </p:sp>
      <p:sp>
        <p:nvSpPr>
          <p:cNvPr id="4" name="TextBox 3"/>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Course Administration</a:t>
            </a:r>
          </a:p>
        </p:txBody>
      </p:sp>
      <p:sp>
        <p:nvSpPr>
          <p:cNvPr id="5" name="TextBox 4"/>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Welcome | expectations | assessment | resources</a:t>
            </a:r>
          </a:p>
        </p:txBody>
      </p:sp>
      <p:sp>
        <p:nvSpPr>
          <p:cNvPr id="6" name="TextBox 5"/>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Make value, flow, quality, and learning visible—then help the team adapt.</a:t>
            </a:r>
          </a:p>
        </p:txBody>
      </p:sp>
      <p:sp>
        <p:nvSpPr>
          <p:cNvPr id="7" name="TextBox 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8" name="TextBox 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2</a:t>
            </a:r>
          </a:p>
        </p:txBody>
      </p:sp>
    </p:spTree>
  </p:cSld>
  <p:clrMapOvr>
    <a:masterClrMapping/>
  </p:clrMapOvr>
  <p:transition spd="med" advClick="1">
    <p:push/>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MANDATORY DIGITAL ATTENDANCE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Digital Attendance | TRAQOM · SSG</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AM</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Scan and submit the morning attendance QR code.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PM</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Scan and submit the afternoon attendance QR code.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ASSESSMENT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Complete the separate assessment digital attendance.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75% MINIMUM</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Attendance and competent assessment outcome are funding requirements.</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5C6677"/>
                </a:solidFill>
                <a:latin typeface="Arial"/>
              </a:rPr>
              <a:t>YOUR FACILITATOR</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About the Trainer</a:t>
            </a:r>
          </a:p>
        </p:txBody>
      </p:sp>
      <p:sp>
        <p:nvSpPr>
          <p:cNvPr id="5" name="Rounded Rectangle 4"/>
          <p:cNvSpPr/>
          <p:nvPr/>
        </p:nvSpPr>
        <p:spPr>
          <a:xfrm>
            <a:off x="685800" y="1572768"/>
            <a:ext cx="3337560" cy="438912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72768" y="1965960"/>
            <a:ext cx="1554480" cy="1554480"/>
          </a:xfrm>
          <a:prstGeom prst="ellipse">
            <a:avLst/>
          </a:prstGeom>
          <a:solidFill>
            <a:srgbClr val="5C6677"/>
          </a:solidFill>
          <a:ln>
            <a:solidFill>
              <a:srgbClr val="5C66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2768" y="2258568"/>
            <a:ext cx="1554480" cy="731520"/>
          </a:xfrm>
          <a:prstGeom prst="rect">
            <a:avLst/>
          </a:prstGeom>
          <a:noFill/>
        </p:spPr>
        <p:txBody>
          <a:bodyPr wrap="square" lIns="54864" rIns="54864" tIns="54864" bIns="54864" anchor="ctr">
            <a:spAutoFit/>
          </a:bodyPr>
          <a:lstStyle/>
          <a:p>
            <a:pPr algn="ctr"/>
            <a:r>
              <a:rPr sz="3800" b="1" i="0">
                <a:solidFill>
                  <a:srgbClr val="FFFFFF"/>
                </a:solidFill>
                <a:latin typeface="Arial"/>
              </a:rPr>
              <a:t>?</a:t>
            </a:r>
          </a:p>
        </p:txBody>
      </p:sp>
      <p:sp>
        <p:nvSpPr>
          <p:cNvPr id="8" name="TextBox 7"/>
          <p:cNvSpPr txBox="1"/>
          <p:nvPr/>
        </p:nvSpPr>
        <p:spPr>
          <a:xfrm>
            <a:off x="960120" y="3822191"/>
            <a:ext cx="2788920" cy="502920"/>
          </a:xfrm>
          <a:prstGeom prst="rect">
            <a:avLst/>
          </a:prstGeom>
          <a:noFill/>
        </p:spPr>
        <p:txBody>
          <a:bodyPr wrap="square" lIns="54864" rIns="54864" tIns="54864" bIns="54864" anchor="t">
            <a:spAutoFit/>
          </a:bodyPr>
          <a:lstStyle/>
          <a:p>
            <a:pPr algn="ctr"/>
            <a:r>
              <a:rPr sz="2000" b="1" i="0">
                <a:solidFill>
                  <a:srgbClr val="131B2A"/>
                </a:solidFill>
                <a:latin typeface="Arial"/>
              </a:rPr>
              <a:t>General Trainer</a:t>
            </a:r>
          </a:p>
        </p:txBody>
      </p:sp>
      <p:sp>
        <p:nvSpPr>
          <p:cNvPr id="9" name="TextBox 8"/>
          <p:cNvSpPr txBox="1"/>
          <p:nvPr/>
        </p:nvSpPr>
        <p:spPr>
          <a:xfrm>
            <a:off x="960120" y="4480560"/>
            <a:ext cx="2788920" cy="822960"/>
          </a:xfrm>
          <a:prstGeom prst="rect">
            <a:avLst/>
          </a:prstGeom>
          <a:noFill/>
        </p:spPr>
        <p:txBody>
          <a:bodyPr wrap="square" lIns="54864" rIns="54864" tIns="54864" bIns="54864" anchor="t">
            <a:spAutoFit/>
          </a:bodyPr>
          <a:lstStyle/>
          <a:p>
            <a:pPr algn="ctr"/>
            <a:r>
              <a:rPr sz="1250" b="0" i="0">
                <a:solidFill>
                  <a:srgbClr val="5C6677"/>
                </a:solidFill>
                <a:latin typeface="Arial"/>
              </a:rPr>
              <a:t>Trainer profile template</a:t>
            </a:r>
          </a:p>
        </p:txBody>
      </p:sp>
      <p:sp>
        <p:nvSpPr>
          <p:cNvPr id="10" name="Rounded Rectangle 9"/>
          <p:cNvSpPr/>
          <p:nvPr/>
        </p:nvSpPr>
        <p:spPr>
          <a:xfrm>
            <a:off x="4389120" y="157276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572768"/>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1664208"/>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NAME</a:t>
            </a:r>
          </a:p>
        </p:txBody>
      </p:sp>
      <p:sp>
        <p:nvSpPr>
          <p:cNvPr id="13" name="TextBox 12"/>
          <p:cNvSpPr txBox="1"/>
          <p:nvPr/>
        </p:nvSpPr>
        <p:spPr>
          <a:xfrm>
            <a:off x="6537960" y="164592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14" name="Rounded Rectangle 13"/>
          <p:cNvSpPr/>
          <p:nvPr/>
        </p:nvSpPr>
        <p:spPr>
          <a:xfrm>
            <a:off x="4389120" y="2295144"/>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295144"/>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386584"/>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TITLE / DESIGNATION</a:t>
            </a:r>
          </a:p>
        </p:txBody>
      </p:sp>
      <p:sp>
        <p:nvSpPr>
          <p:cNvPr id="17" name="TextBox 16"/>
          <p:cNvSpPr txBox="1"/>
          <p:nvPr/>
        </p:nvSpPr>
        <p:spPr>
          <a:xfrm>
            <a:off x="6537960" y="2368296"/>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18" name="Rounded Rectangle 17"/>
          <p:cNvSpPr/>
          <p:nvPr/>
        </p:nvSpPr>
        <p:spPr>
          <a:xfrm>
            <a:off x="4389120" y="3017520"/>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3017520"/>
            <a:ext cx="91440" cy="62179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5152" y="3108960"/>
            <a:ext cx="1920240" cy="402336"/>
          </a:xfrm>
          <a:prstGeom prst="rect">
            <a:avLst/>
          </a:prstGeom>
          <a:noFill/>
        </p:spPr>
        <p:txBody>
          <a:bodyPr wrap="square" lIns="54864" rIns="54864" tIns="54864" bIns="54864" anchor="t">
            <a:spAutoFit/>
          </a:bodyPr>
          <a:lstStyle/>
          <a:p>
            <a:pPr algn="l"/>
            <a:r>
              <a:rPr sz="1000" b="1" i="0">
                <a:solidFill>
                  <a:srgbClr val="6F42C1"/>
                </a:solidFill>
                <a:latin typeface="Arial"/>
              </a:rPr>
              <a:t>QUALIFICATIONS</a:t>
            </a:r>
          </a:p>
        </p:txBody>
      </p:sp>
      <p:sp>
        <p:nvSpPr>
          <p:cNvPr id="21" name="TextBox 20"/>
          <p:cNvSpPr txBox="1"/>
          <p:nvPr/>
        </p:nvSpPr>
        <p:spPr>
          <a:xfrm>
            <a:off x="6537960" y="3090672"/>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22" name="Rounded Rectangle 21"/>
          <p:cNvSpPr/>
          <p:nvPr/>
        </p:nvSpPr>
        <p:spPr>
          <a:xfrm>
            <a:off x="4389120" y="3739896"/>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0" y="3739896"/>
            <a:ext cx="91440" cy="6217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5152" y="3831336"/>
            <a:ext cx="1920240" cy="402336"/>
          </a:xfrm>
          <a:prstGeom prst="rect">
            <a:avLst/>
          </a:prstGeom>
          <a:noFill/>
        </p:spPr>
        <p:txBody>
          <a:bodyPr wrap="square" lIns="54864" rIns="54864" tIns="54864" bIns="54864" anchor="t">
            <a:spAutoFit/>
          </a:bodyPr>
          <a:lstStyle/>
          <a:p>
            <a:pPr algn="l"/>
            <a:r>
              <a:rPr sz="1000" b="1" i="0">
                <a:solidFill>
                  <a:srgbClr val="E68300"/>
                </a:solidFill>
                <a:latin typeface="Arial"/>
              </a:rPr>
              <a:t>AREAS OF EXPERTISE</a:t>
            </a:r>
          </a:p>
        </p:txBody>
      </p:sp>
      <p:sp>
        <p:nvSpPr>
          <p:cNvPr id="25" name="TextBox 24"/>
          <p:cNvSpPr txBox="1"/>
          <p:nvPr/>
        </p:nvSpPr>
        <p:spPr>
          <a:xfrm>
            <a:off x="6537960" y="3813048"/>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26" name="Rounded Rectangle 25"/>
          <p:cNvSpPr/>
          <p:nvPr/>
        </p:nvSpPr>
        <p:spPr>
          <a:xfrm>
            <a:off x="4389120" y="4462272"/>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0" y="4462272"/>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5152" y="4553712"/>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TRAINING EXPERIENCE</a:t>
            </a:r>
          </a:p>
        </p:txBody>
      </p:sp>
      <p:sp>
        <p:nvSpPr>
          <p:cNvPr id="29" name="TextBox 28"/>
          <p:cNvSpPr txBox="1"/>
          <p:nvPr/>
        </p:nvSpPr>
        <p:spPr>
          <a:xfrm>
            <a:off x="6537960" y="4535424"/>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30" name="Rounded Rectangle 29"/>
          <p:cNvSpPr/>
          <p:nvPr/>
        </p:nvSpPr>
        <p:spPr>
          <a:xfrm>
            <a:off x="4389120" y="518464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89120" y="5184648"/>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5152" y="5276088"/>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CONTACT</a:t>
            </a:r>
          </a:p>
        </p:txBody>
      </p:sp>
      <p:sp>
        <p:nvSpPr>
          <p:cNvPr id="33" name="TextBox 32"/>
          <p:cNvSpPr txBox="1"/>
          <p:nvPr/>
        </p:nvSpPr>
        <p:spPr>
          <a:xfrm>
            <a:off x="6537960" y="525780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________________________________</a:t>
            </a:r>
          </a:p>
        </p:txBody>
      </p:sp>
      <p:sp>
        <p:nvSpPr>
          <p:cNvPr id="34" name="TextBox 33"/>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5" name="TextBox 34"/>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YOUR FACILITATOR</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About the Trainer</a:t>
            </a:r>
          </a:p>
        </p:txBody>
      </p:sp>
      <p:sp>
        <p:nvSpPr>
          <p:cNvPr id="5" name="Rounded Rectangle 4"/>
          <p:cNvSpPr/>
          <p:nvPr/>
        </p:nvSpPr>
        <p:spPr>
          <a:xfrm>
            <a:off x="685800" y="1572768"/>
            <a:ext cx="3337560" cy="438912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72768" y="1965960"/>
            <a:ext cx="1554480" cy="1554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2768" y="2258568"/>
            <a:ext cx="1554480" cy="731520"/>
          </a:xfrm>
          <a:prstGeom prst="rect">
            <a:avLst/>
          </a:prstGeom>
          <a:noFill/>
        </p:spPr>
        <p:txBody>
          <a:bodyPr wrap="square" lIns="54864" rIns="54864" tIns="54864" bIns="54864" anchor="ctr">
            <a:spAutoFit/>
          </a:bodyPr>
          <a:lstStyle/>
          <a:p>
            <a:pPr algn="ctr"/>
            <a:r>
              <a:rPr sz="3800" b="1" i="0">
                <a:solidFill>
                  <a:srgbClr val="FFFFFF"/>
                </a:solidFill>
                <a:latin typeface="Arial"/>
              </a:rPr>
              <a:t>AA</a:t>
            </a:r>
          </a:p>
        </p:txBody>
      </p:sp>
      <p:sp>
        <p:nvSpPr>
          <p:cNvPr id="8" name="TextBox 7"/>
          <p:cNvSpPr txBox="1"/>
          <p:nvPr/>
        </p:nvSpPr>
        <p:spPr>
          <a:xfrm>
            <a:off x="960120" y="3822191"/>
            <a:ext cx="2788920" cy="502920"/>
          </a:xfrm>
          <a:prstGeom prst="rect">
            <a:avLst/>
          </a:prstGeom>
          <a:noFill/>
        </p:spPr>
        <p:txBody>
          <a:bodyPr wrap="square" lIns="54864" rIns="54864" tIns="54864" bIns="54864" anchor="t">
            <a:spAutoFit/>
          </a:bodyPr>
          <a:lstStyle/>
          <a:p>
            <a:pPr algn="ctr"/>
            <a:r>
              <a:rPr sz="2000" b="1" i="0">
                <a:solidFill>
                  <a:srgbClr val="131B2A"/>
                </a:solidFill>
                <a:latin typeface="Arial"/>
              </a:rPr>
              <a:t>Dr. Alfred Ang</a:t>
            </a:r>
          </a:p>
        </p:txBody>
      </p:sp>
      <p:sp>
        <p:nvSpPr>
          <p:cNvPr id="9" name="TextBox 8"/>
          <p:cNvSpPr txBox="1"/>
          <p:nvPr/>
        </p:nvSpPr>
        <p:spPr>
          <a:xfrm>
            <a:off x="960120" y="4480560"/>
            <a:ext cx="2788920" cy="822960"/>
          </a:xfrm>
          <a:prstGeom prst="rect">
            <a:avLst/>
          </a:prstGeom>
          <a:noFill/>
        </p:spPr>
        <p:txBody>
          <a:bodyPr wrap="square" lIns="54864" rIns="54864" tIns="54864" bIns="54864" anchor="t">
            <a:spAutoFit/>
          </a:bodyPr>
          <a:lstStyle/>
          <a:p>
            <a:pPr algn="ctr"/>
            <a:r>
              <a:rPr sz="1250" b="0" i="0">
                <a:solidFill>
                  <a:srgbClr val="5C6677"/>
                </a:solidFill>
                <a:latin typeface="Arial"/>
              </a:rPr>
              <a:t>Principal Trainer | Tertiary Infotech Academy</a:t>
            </a:r>
          </a:p>
        </p:txBody>
      </p:sp>
      <p:sp>
        <p:nvSpPr>
          <p:cNvPr id="10" name="Rounded Rectangle 9"/>
          <p:cNvSpPr/>
          <p:nvPr/>
        </p:nvSpPr>
        <p:spPr>
          <a:xfrm>
            <a:off x="4389120" y="157276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0" y="1572768"/>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1664208"/>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ROLE</a:t>
            </a:r>
          </a:p>
        </p:txBody>
      </p:sp>
      <p:sp>
        <p:nvSpPr>
          <p:cNvPr id="13" name="TextBox 12"/>
          <p:cNvSpPr txBox="1"/>
          <p:nvPr/>
        </p:nvSpPr>
        <p:spPr>
          <a:xfrm>
            <a:off x="6537960" y="164592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Principal Trainer and learning architect</a:t>
            </a:r>
          </a:p>
        </p:txBody>
      </p:sp>
      <p:sp>
        <p:nvSpPr>
          <p:cNvPr id="14" name="Rounded Rectangle 13"/>
          <p:cNvSpPr/>
          <p:nvPr/>
        </p:nvSpPr>
        <p:spPr>
          <a:xfrm>
            <a:off x="4389120" y="2295144"/>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295144"/>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386584"/>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SPECIALISM</a:t>
            </a:r>
          </a:p>
        </p:txBody>
      </p:sp>
      <p:sp>
        <p:nvSpPr>
          <p:cNvPr id="17" name="TextBox 16"/>
          <p:cNvSpPr txBox="1"/>
          <p:nvPr/>
        </p:nvSpPr>
        <p:spPr>
          <a:xfrm>
            <a:off x="6537960" y="2368296"/>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Agile delivery, AI and digital transformation</a:t>
            </a:r>
          </a:p>
        </p:txBody>
      </p:sp>
      <p:sp>
        <p:nvSpPr>
          <p:cNvPr id="18" name="Rounded Rectangle 17"/>
          <p:cNvSpPr/>
          <p:nvPr/>
        </p:nvSpPr>
        <p:spPr>
          <a:xfrm>
            <a:off x="4389120" y="3017520"/>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89120" y="3017520"/>
            <a:ext cx="91440" cy="62179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5152" y="3108960"/>
            <a:ext cx="1920240" cy="402336"/>
          </a:xfrm>
          <a:prstGeom prst="rect">
            <a:avLst/>
          </a:prstGeom>
          <a:noFill/>
        </p:spPr>
        <p:txBody>
          <a:bodyPr wrap="square" lIns="54864" rIns="54864" tIns="54864" bIns="54864" anchor="t">
            <a:spAutoFit/>
          </a:bodyPr>
          <a:lstStyle/>
          <a:p>
            <a:pPr algn="l"/>
            <a:r>
              <a:rPr sz="1000" b="1" i="0">
                <a:solidFill>
                  <a:srgbClr val="6F42C1"/>
                </a:solidFill>
                <a:latin typeface="Arial"/>
              </a:rPr>
              <a:t>APPROACH</a:t>
            </a:r>
          </a:p>
        </p:txBody>
      </p:sp>
      <p:sp>
        <p:nvSpPr>
          <p:cNvPr id="21" name="TextBox 20"/>
          <p:cNvSpPr txBox="1"/>
          <p:nvPr/>
        </p:nvSpPr>
        <p:spPr>
          <a:xfrm>
            <a:off x="6537960" y="3090672"/>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Evidence-led, scenario-rich and outcomes focused</a:t>
            </a:r>
          </a:p>
        </p:txBody>
      </p:sp>
      <p:sp>
        <p:nvSpPr>
          <p:cNvPr id="22" name="Rounded Rectangle 21"/>
          <p:cNvSpPr/>
          <p:nvPr/>
        </p:nvSpPr>
        <p:spPr>
          <a:xfrm>
            <a:off x="4389120" y="3739896"/>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89120" y="3739896"/>
            <a:ext cx="91440" cy="6217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45152" y="3831336"/>
            <a:ext cx="1920240" cy="402336"/>
          </a:xfrm>
          <a:prstGeom prst="rect">
            <a:avLst/>
          </a:prstGeom>
          <a:noFill/>
        </p:spPr>
        <p:txBody>
          <a:bodyPr wrap="square" lIns="54864" rIns="54864" tIns="54864" bIns="54864" anchor="t">
            <a:spAutoFit/>
          </a:bodyPr>
          <a:lstStyle/>
          <a:p>
            <a:pPr algn="l"/>
            <a:r>
              <a:rPr sz="1000" b="1" i="0">
                <a:solidFill>
                  <a:srgbClr val="E68300"/>
                </a:solidFill>
                <a:latin typeface="Arial"/>
              </a:rPr>
              <a:t>FACILITATION</a:t>
            </a:r>
          </a:p>
        </p:txBody>
      </p:sp>
      <p:sp>
        <p:nvSpPr>
          <p:cNvPr id="25" name="TextBox 24"/>
          <p:cNvSpPr txBox="1"/>
          <p:nvPr/>
        </p:nvSpPr>
        <p:spPr>
          <a:xfrm>
            <a:off x="6537960" y="3813048"/>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Coaching, simulation, feedback and applied practice</a:t>
            </a:r>
          </a:p>
        </p:txBody>
      </p:sp>
      <p:sp>
        <p:nvSpPr>
          <p:cNvPr id="26" name="Rounded Rectangle 25"/>
          <p:cNvSpPr/>
          <p:nvPr/>
        </p:nvSpPr>
        <p:spPr>
          <a:xfrm>
            <a:off x="4389120" y="4462272"/>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89120" y="4462272"/>
            <a:ext cx="91440" cy="62179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5152" y="4553712"/>
            <a:ext cx="1920240" cy="402336"/>
          </a:xfrm>
          <a:prstGeom prst="rect">
            <a:avLst/>
          </a:prstGeom>
          <a:noFill/>
        </p:spPr>
        <p:txBody>
          <a:bodyPr wrap="square" lIns="54864" rIns="54864" tIns="54864" bIns="54864" anchor="t">
            <a:spAutoFit/>
          </a:bodyPr>
          <a:lstStyle/>
          <a:p>
            <a:pPr algn="l"/>
            <a:r>
              <a:rPr sz="1000" b="1" i="0">
                <a:solidFill>
                  <a:srgbClr val="1F6FEB"/>
                </a:solidFill>
                <a:latin typeface="Arial"/>
              </a:rPr>
              <a:t>ORGANISATION</a:t>
            </a:r>
          </a:p>
        </p:txBody>
      </p:sp>
      <p:sp>
        <p:nvSpPr>
          <p:cNvPr id="29" name="TextBox 28"/>
          <p:cNvSpPr txBox="1"/>
          <p:nvPr/>
        </p:nvSpPr>
        <p:spPr>
          <a:xfrm>
            <a:off x="6537960" y="4535424"/>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Tertiary Infotech Academy Pte Ltd</a:t>
            </a:r>
          </a:p>
        </p:txBody>
      </p:sp>
      <p:sp>
        <p:nvSpPr>
          <p:cNvPr id="30" name="Rounded Rectangle 29"/>
          <p:cNvSpPr/>
          <p:nvPr/>
        </p:nvSpPr>
        <p:spPr>
          <a:xfrm>
            <a:off x="4389120" y="5184648"/>
            <a:ext cx="7132320" cy="62179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89120" y="5184648"/>
            <a:ext cx="91440" cy="62179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45152" y="5276088"/>
            <a:ext cx="1920240" cy="402336"/>
          </a:xfrm>
          <a:prstGeom prst="rect">
            <a:avLst/>
          </a:prstGeom>
          <a:noFill/>
        </p:spPr>
        <p:txBody>
          <a:bodyPr wrap="square" lIns="54864" rIns="54864" tIns="54864" bIns="54864" anchor="t">
            <a:spAutoFit/>
          </a:bodyPr>
          <a:lstStyle/>
          <a:p>
            <a:pPr algn="l"/>
            <a:r>
              <a:rPr sz="1000" b="1" i="0">
                <a:solidFill>
                  <a:srgbClr val="008C95"/>
                </a:solidFill>
                <a:latin typeface="Arial"/>
              </a:rPr>
              <a:t>CONTACT</a:t>
            </a:r>
          </a:p>
        </p:txBody>
      </p:sp>
      <p:sp>
        <p:nvSpPr>
          <p:cNvPr id="33" name="TextBox 32"/>
          <p:cNvSpPr txBox="1"/>
          <p:nvPr/>
        </p:nvSpPr>
        <p:spPr>
          <a:xfrm>
            <a:off x="6537960" y="5257800"/>
            <a:ext cx="4663440" cy="438912"/>
          </a:xfrm>
          <a:prstGeom prst="rect">
            <a:avLst/>
          </a:prstGeom>
          <a:noFill/>
        </p:spPr>
        <p:txBody>
          <a:bodyPr wrap="square" lIns="54864" rIns="54864" tIns="54864" bIns="54864" anchor="t">
            <a:spAutoFit/>
          </a:bodyPr>
          <a:lstStyle/>
          <a:p>
            <a:pPr algn="l"/>
            <a:r>
              <a:rPr sz="1200" b="0" i="0">
                <a:solidFill>
                  <a:srgbClr val="131B2A"/>
                </a:solidFill>
                <a:latin typeface="Arial"/>
              </a:rPr>
              <a:t>enquiry@tertiaryinfotech.com</a:t>
            </a:r>
          </a:p>
        </p:txBody>
      </p:sp>
      <p:sp>
        <p:nvSpPr>
          <p:cNvPr id="34" name="TextBox 33"/>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5" name="TextBox 34"/>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LEARNER INTRODUCTION</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Let’s Know Each Other</a:t>
            </a:r>
          </a:p>
        </p:txBody>
      </p:sp>
      <p:sp>
        <p:nvSpPr>
          <p:cNvPr id="5" name="Oval 4"/>
          <p:cNvSpPr/>
          <p:nvPr/>
        </p:nvSpPr>
        <p:spPr>
          <a:xfrm>
            <a:off x="685800" y="1572768"/>
            <a:ext cx="402336" cy="402336"/>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91056"/>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7" name="TextBox 6"/>
          <p:cNvSpPr txBox="1"/>
          <p:nvPr/>
        </p:nvSpPr>
        <p:spPr>
          <a:xfrm>
            <a:off x="1298448" y="1554480"/>
            <a:ext cx="9966960" cy="530352"/>
          </a:xfrm>
          <a:prstGeom prst="rect">
            <a:avLst/>
          </a:prstGeom>
          <a:noFill/>
        </p:spPr>
        <p:txBody>
          <a:bodyPr wrap="square" lIns="54864" rIns="54864" tIns="54864" bIns="54864" anchor="t">
            <a:spAutoFit/>
          </a:bodyPr>
          <a:lstStyle/>
          <a:p>
            <a:pPr algn="l"/>
            <a:r>
              <a:rPr sz="1700" b="1" i="0">
                <a:solidFill>
                  <a:srgbClr val="131B2A"/>
                </a:solidFill>
                <a:latin typeface="Arial"/>
              </a:rPr>
              <a:t>Name and role</a:t>
            </a:r>
          </a:p>
        </p:txBody>
      </p:sp>
      <p:sp>
        <p:nvSpPr>
          <p:cNvPr id="8" name="Oval 7"/>
          <p:cNvSpPr/>
          <p:nvPr/>
        </p:nvSpPr>
        <p:spPr>
          <a:xfrm>
            <a:off x="685800" y="2560320"/>
            <a:ext cx="402336" cy="402336"/>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78608"/>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0" name="TextBox 9"/>
          <p:cNvSpPr txBox="1"/>
          <p:nvPr/>
        </p:nvSpPr>
        <p:spPr>
          <a:xfrm>
            <a:off x="1298448" y="2542032"/>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Your experience with Agile or Scrum</a:t>
            </a:r>
          </a:p>
        </p:txBody>
      </p:sp>
      <p:sp>
        <p:nvSpPr>
          <p:cNvPr id="11" name="Oval 10"/>
          <p:cNvSpPr/>
          <p:nvPr/>
        </p:nvSpPr>
        <p:spPr>
          <a:xfrm>
            <a:off x="685800" y="3547872"/>
            <a:ext cx="402336" cy="402336"/>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66160"/>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13" name="TextBox 12"/>
          <p:cNvSpPr txBox="1"/>
          <p:nvPr/>
        </p:nvSpPr>
        <p:spPr>
          <a:xfrm>
            <a:off x="1298448" y="3529584"/>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One team outcome that matters</a:t>
            </a:r>
          </a:p>
        </p:txBody>
      </p:sp>
      <p:sp>
        <p:nvSpPr>
          <p:cNvPr id="14" name="Oval 13"/>
          <p:cNvSpPr/>
          <p:nvPr/>
        </p:nvSpPr>
        <p:spPr>
          <a:xfrm>
            <a:off x="685800" y="4535424"/>
            <a:ext cx="402336" cy="402336"/>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53712"/>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16" name="TextBox 15"/>
          <p:cNvSpPr txBox="1"/>
          <p:nvPr/>
        </p:nvSpPr>
        <p:spPr>
          <a:xfrm>
            <a:off x="1298448" y="4517136"/>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One impediment you want to handle better</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HOW WE WILL WORK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Ground Rules</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BE PRESENT</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Give the speaker and the Sprint Goal your full attention.</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BE CURIOUS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Inspect evidence before defending a position.</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BE PRACTICAL</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Test facilitation choices in realistic scenarios.</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BE SAFE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Challenge the process without attacking the person.</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COURSE OUTLINE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Two-Day Learning Journey</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Foundation</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Accountability</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Events</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Evidence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Artifacts</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WHAT YOU WILL BE ABLE TO DO</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Learning Outcomes</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LO1</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Implement Agile Scrum practices for requirements.</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LO2</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Manage Scrum accountabilities within policy.</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LO3</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Measure and experiment through Scrum events.</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LO4 + LO5</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Organize work and share artifacts for collaboration.</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WSQ COMPETENCY MAP</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Skills Framework Alignment</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TSC</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Business Agility
ICT-BIN-4038-1.1</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KNOWLEDGE</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K1-K7: landscape, customers, policy, change, teams, values, methods</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ABILITIES</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A1-A7: share, organize, improve, measure, experiment, assess, own</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9:00 AM-6:00 PM</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Lesson Plan</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Day 1 | foundations</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Day 1 | accountabilities</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Day 1 | events</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Day 2 | evidence + artifacts</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Day 2 | WA + CS, 4-6 PM</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B42318"/>
                </a:solidFill>
                <a:latin typeface="Arial"/>
              </a:rPr>
              <a:t>ASSESSMENT READINESS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Briefing for Assessment</a:t>
            </a:r>
          </a:p>
        </p:txBody>
      </p:sp>
      <p:sp>
        <p:nvSpPr>
          <p:cNvPr id="5" name="Oval 4"/>
          <p:cNvSpPr/>
          <p:nvPr/>
        </p:nvSpPr>
        <p:spPr>
          <a:xfrm>
            <a:off x="685800" y="1572768"/>
            <a:ext cx="402336" cy="402336"/>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91056"/>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7" name="TextBox 6"/>
          <p:cNvSpPr txBox="1"/>
          <p:nvPr/>
        </p:nvSpPr>
        <p:spPr>
          <a:xfrm>
            <a:off x="1298448" y="1554480"/>
            <a:ext cx="9966960" cy="530352"/>
          </a:xfrm>
          <a:prstGeom prst="rect">
            <a:avLst/>
          </a:prstGeom>
          <a:noFill/>
        </p:spPr>
        <p:txBody>
          <a:bodyPr wrap="square" lIns="54864" rIns="54864" tIns="54864" bIns="54864" anchor="t">
            <a:spAutoFit/>
          </a:bodyPr>
          <a:lstStyle/>
          <a:p>
            <a:pPr algn="l"/>
            <a:r>
              <a:rPr sz="1700" b="1" i="0">
                <a:solidFill>
                  <a:srgbClr val="131B2A"/>
                </a:solidFill>
                <a:latin typeface="Arial"/>
              </a:rPr>
              <a:t>Individual, summative, open book; no discussion</a:t>
            </a:r>
          </a:p>
        </p:txBody>
      </p:sp>
      <p:sp>
        <p:nvSpPr>
          <p:cNvPr id="8" name="Oval 7"/>
          <p:cNvSpPr/>
          <p:nvPr/>
        </p:nvSpPr>
        <p:spPr>
          <a:xfrm>
            <a:off x="685800" y="2560320"/>
            <a:ext cx="402336" cy="402336"/>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78608"/>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0" name="TextBox 9"/>
          <p:cNvSpPr txBox="1"/>
          <p:nvPr/>
        </p:nvSpPr>
        <p:spPr>
          <a:xfrm>
            <a:off x="1298448" y="2542032"/>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Use only approved course materials; phones and other materials under the table</a:t>
            </a:r>
          </a:p>
        </p:txBody>
      </p:sp>
      <p:sp>
        <p:nvSpPr>
          <p:cNvPr id="11" name="Oval 10"/>
          <p:cNvSpPr/>
          <p:nvPr/>
        </p:nvSpPr>
        <p:spPr>
          <a:xfrm>
            <a:off x="685800" y="3547872"/>
            <a:ext cx="402336" cy="402336"/>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66160"/>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13" name="TextBox 12"/>
          <p:cNvSpPr txBox="1"/>
          <p:nvPr/>
        </p:nvSpPr>
        <p:spPr>
          <a:xfrm>
            <a:off x="1298448" y="3529584"/>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Written Assessment: 1 hour; Case Study: 1 hour</a:t>
            </a:r>
          </a:p>
        </p:txBody>
      </p:sp>
      <p:sp>
        <p:nvSpPr>
          <p:cNvPr id="14" name="Oval 13"/>
          <p:cNvSpPr/>
          <p:nvPr/>
        </p:nvSpPr>
        <p:spPr>
          <a:xfrm>
            <a:off x="685800" y="4535424"/>
            <a:ext cx="402336" cy="402336"/>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53712"/>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16" name="TextBox 15"/>
          <p:cNvSpPr txBox="1"/>
          <p:nvPr/>
        </p:nvSpPr>
        <p:spPr>
          <a:xfrm>
            <a:off x="1298448" y="4517136"/>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Submit on the LMS and sign the Assessment Summary Record</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OPEN BOOK | INDIVIDUAL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 and Funding</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WA | 1 HOUR</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Seven open-ended questions covering K1-K7.</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CASE STUDY | 1 HOUR</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Five scenario questions covering A1-A7.</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COMPETENCE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All required criteria competent; reassessment and appeal rights apply.</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B42318"/>
                </a:solidFill>
                <a:latin typeface="Arial"/>
              </a:rPr>
              <a:t>ASSESSMENT PROCESS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 Flow</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TRAQOM</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Assessment attendance</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WA then CS</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Submit on LMS</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Sign summary record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LEARNER RESOURCES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Access the Course Activities</a:t>
            </a:r>
          </a:p>
        </p:txBody>
      </p:sp>
      <p:sp>
        <p:nvSpPr>
          <p:cNvPr id="5" name="TextBox 4"/>
          <p:cNvSpPr txBox="1"/>
          <p:nvPr/>
        </p:nvSpPr>
        <p:spPr>
          <a:xfrm>
            <a:off x="713232" y="1508760"/>
            <a:ext cx="10652760" cy="457200"/>
          </a:xfrm>
          <a:prstGeom prst="rect">
            <a:avLst/>
          </a:prstGeom>
          <a:noFill/>
        </p:spPr>
        <p:txBody>
          <a:bodyPr wrap="square" lIns="54864" rIns="54864" tIns="54864" bIns="54864" anchor="t">
            <a:spAutoFit/>
          </a:bodyPr>
          <a:lstStyle/>
          <a:p>
            <a:pPr algn="l"/>
            <a:r>
              <a:rPr sz="1500" b="0" i="0">
                <a:solidFill>
                  <a:srgbClr val="131B2A"/>
                </a:solidFill>
                <a:latin typeface="Arial"/>
              </a:rPr>
              <a:t>Every activity has its own folder with a detailed guide, scenario PDF, editable Excel worksheet, mock data, and acceptance checklist PDF.</a:t>
            </a:r>
          </a:p>
        </p:txBody>
      </p:sp>
      <p:sp>
        <p:nvSpPr>
          <p:cNvPr id="6" name="Rounded Rectangle 5"/>
          <p:cNvSpPr/>
          <p:nvPr/>
        </p:nvSpPr>
        <p:spPr>
          <a:xfrm>
            <a:off x="749808" y="2331720"/>
            <a:ext cx="5120640" cy="21488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2331720"/>
            <a:ext cx="5120640" cy="128016"/>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697480"/>
            <a:ext cx="4526280" cy="438912"/>
          </a:xfrm>
          <a:prstGeom prst="rect">
            <a:avLst/>
          </a:prstGeom>
          <a:noFill/>
        </p:spPr>
        <p:txBody>
          <a:bodyPr wrap="square" lIns="54864" rIns="54864" tIns="54864" bIns="54864" anchor="t">
            <a:spAutoFit/>
          </a:bodyPr>
          <a:lstStyle/>
          <a:p>
            <a:pPr algn="l"/>
            <a:r>
              <a:rPr sz="1400" b="1" i="0">
                <a:solidFill>
                  <a:srgbClr val="008C95"/>
                </a:solidFill>
                <a:latin typeface="Arial"/>
              </a:rPr>
              <a:t>OPTION A | CLONE</a:t>
            </a:r>
          </a:p>
        </p:txBody>
      </p:sp>
      <p:sp>
        <p:nvSpPr>
          <p:cNvPr id="9" name="TextBox 8"/>
          <p:cNvSpPr txBox="1"/>
          <p:nvPr/>
        </p:nvSpPr>
        <p:spPr>
          <a:xfrm>
            <a:off x="1042416" y="3429000"/>
            <a:ext cx="4526280" cy="685800"/>
          </a:xfrm>
          <a:prstGeom prst="rect">
            <a:avLst/>
          </a:prstGeom>
          <a:noFill/>
        </p:spPr>
        <p:txBody>
          <a:bodyPr wrap="square" lIns="54864" rIns="54864" tIns="54864" bIns="54864" anchor="t">
            <a:spAutoFit/>
          </a:bodyPr>
          <a:lstStyle/>
          <a:p>
            <a:pPr algn="l"/>
            <a:r>
              <a:rPr sz="1300" b="0" i="0">
                <a:solidFill>
                  <a:srgbClr val="131B2A"/>
                </a:solidFill>
                <a:latin typeface="Consolas"/>
              </a:rPr>
              <a:t>git clone https://github.com/tertiarycourses/TGS-2024045803-Scrum-Master-Fundamentals-for-High-Performing-Teams.git</a:t>
            </a:r>
          </a:p>
        </p:txBody>
      </p:sp>
      <p:sp>
        <p:nvSpPr>
          <p:cNvPr id="10" name="Rounded Rectangle 9"/>
          <p:cNvSpPr/>
          <p:nvPr/>
        </p:nvSpPr>
        <p:spPr>
          <a:xfrm>
            <a:off x="6281928" y="2331720"/>
            <a:ext cx="5120640" cy="21488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81928" y="2331720"/>
            <a:ext cx="5120640" cy="128016"/>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4536" y="2697480"/>
            <a:ext cx="4526280" cy="438912"/>
          </a:xfrm>
          <a:prstGeom prst="rect">
            <a:avLst/>
          </a:prstGeom>
          <a:noFill/>
        </p:spPr>
        <p:txBody>
          <a:bodyPr wrap="square" lIns="54864" rIns="54864" tIns="54864" bIns="54864" anchor="t">
            <a:spAutoFit/>
          </a:bodyPr>
          <a:lstStyle/>
          <a:p>
            <a:pPr algn="l"/>
            <a:r>
              <a:rPr sz="1400" b="1" i="0">
                <a:solidFill>
                  <a:srgbClr val="6F42C1"/>
                </a:solidFill>
                <a:latin typeface="Arial"/>
              </a:rPr>
              <a:t>OPTION B | DOWNLOAD</a:t>
            </a:r>
          </a:p>
        </p:txBody>
      </p:sp>
      <p:sp>
        <p:nvSpPr>
          <p:cNvPr id="13" name="TextBox 12"/>
          <p:cNvSpPr txBox="1"/>
          <p:nvPr/>
        </p:nvSpPr>
        <p:spPr>
          <a:xfrm>
            <a:off x="6574536" y="3429000"/>
            <a:ext cx="4526280" cy="685800"/>
          </a:xfrm>
          <a:prstGeom prst="rect">
            <a:avLst/>
          </a:prstGeom>
          <a:noFill/>
        </p:spPr>
        <p:txBody>
          <a:bodyPr wrap="square" lIns="54864" rIns="54864" tIns="54864" bIns="54864" anchor="t">
            <a:spAutoFit/>
          </a:bodyPr>
          <a:lstStyle/>
          <a:p>
            <a:pPr algn="l"/>
            <a:r>
              <a:rPr sz="1300" b="0" i="0">
                <a:solidFill>
                  <a:srgbClr val="131B2A"/>
                </a:solidFill>
                <a:latin typeface="Arial"/>
              </a:rPr>
              <a:t>Open GitHub &gt; Code &gt; Download ZIP</a:t>
            </a:r>
          </a:p>
        </p:txBody>
      </p:sp>
      <p:sp>
        <p:nvSpPr>
          <p:cNvPr id="14" name="TextBox 13">
            <a:hlinkClick r:id="rId2"/>
          </p:cNvPr>
          <p:cNvSpPr txBox="1"/>
          <p:nvPr/>
        </p:nvSpPr>
        <p:spPr>
          <a:xfrm>
            <a:off x="749808" y="4983480"/>
            <a:ext cx="10515600" cy="594360"/>
          </a:xfrm>
          <a:prstGeom prst="rect">
            <a:avLst/>
          </a:prstGeom>
          <a:noFill/>
        </p:spPr>
        <p:txBody>
          <a:bodyPr wrap="square" lIns="54864" rIns="54864" tIns="54864" bIns="54864" anchor="t">
            <a:spAutoFit/>
          </a:bodyPr>
          <a:lstStyle/>
          <a:p>
            <a:pPr algn="ctr"/>
            <a:r>
              <a:rPr sz="1200" b="1" i="0">
                <a:solidFill>
                  <a:srgbClr val="1F6FEB"/>
                </a:solidFill>
                <a:latin typeface="Arial"/>
              </a:rPr>
              <a:t>https://github.com/tertiarycourses/TGS-2024045803-Scrum-Master-Fundamentals-for-High-Performing-Teams</a:t>
            </a:r>
          </a:p>
        </p:txBody>
      </p:sp>
      <p:sp>
        <p:nvSpPr>
          <p:cNvPr id="15" name="TextBox 14"/>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6" name="TextBox 15"/>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16</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6.png"/>
          <p:cNvPicPr>
            <a:picLocks noChangeAspect="1"/>
          </p:cNvPicPr>
          <p:nvPr/>
        </p:nvPicPr>
        <p:blipFill>
          <a:blip r:embed="rId2"/>
          <a:srcRect l="24186" r="24186"/>
          <a:stretch>
            <a:fillRect/>
          </a:stretch>
        </p:blipFill>
        <p:spPr>
          <a:xfrm>
            <a:off x="5897880" y="0"/>
            <a:ext cx="6291072" cy="6858000"/>
          </a:xfrm>
          <a:prstGeom prst="rect">
            <a:avLst/>
          </a:prstGeom>
        </p:spPr>
      </p:pic>
      <p:sp>
        <p:nvSpPr>
          <p:cNvPr id="4" name="Rectangle 3"/>
          <p:cNvSpPr/>
          <p:nvPr/>
        </p:nvSpPr>
        <p:spPr>
          <a:xfrm>
            <a:off x="5303520" y="0"/>
            <a:ext cx="2011680"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01</a:t>
            </a:r>
          </a:p>
        </p:txBody>
      </p:sp>
      <p:sp>
        <p:nvSpPr>
          <p:cNvPr id="6" name="TextBox 5"/>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Scrum Foundations</a:t>
            </a:r>
          </a:p>
        </p:txBody>
      </p:sp>
      <p:sp>
        <p:nvSpPr>
          <p:cNvPr id="7" name="TextBox 6"/>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Agile mindset | empiricism | values | framework | complexity | K1, K2, K6, K7, A3</a:t>
            </a:r>
          </a:p>
        </p:txBody>
      </p:sp>
      <p:sp>
        <p:nvSpPr>
          <p:cNvPr id="8" name="TextBox 7"/>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Make value, flow, quality, and learning visible—then help the team adapt.</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17</a:t>
            </a:r>
          </a:p>
        </p:txBody>
      </p:sp>
    </p:spTree>
  </p:cSld>
  <p:clrMapOvr>
    <a:masterClrMapping/>
  </p:clrMapOvr>
  <p:transition spd="med" advClick="1">
    <p:push/>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Why Agile Exists</a:t>
            </a:r>
          </a:p>
        </p:txBody>
      </p:sp>
      <p:pic>
        <p:nvPicPr>
          <p:cNvPr id="5" name="Picture 4" descr="cover-hero-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Agility is the ability to change direction without losing purpose.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Complex work defeats long-range certainty</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Early value creates evidence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Customer feedback changes priorities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Teams learn through short cycles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18</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Why Agile Exists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Complex work defeats long-range certainty</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Early value creates evidence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Customer feedback changes priorities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Teams learn through short cycles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19</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Why Agile Exists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a plan defended after evidence changes.</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Shorten the feedback loop and re-plan from what is known.</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20</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SCRUM MASTER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Agility is the ability to change direction without losing purpose.</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Shorten the feedback loop and re-plan from what is known.</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21</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Agile Values as Decision Tests</a:t>
            </a:r>
          </a:p>
        </p:txBody>
      </p:sp>
      <p:pic>
        <p:nvPicPr>
          <p:cNvPr id="5" name="Picture 4" descr="backlog-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The values guide trade-offs; they do not ban process, documentation, contracts, or plans.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Individuals and interactions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Working outcomes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Customer collaboration</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Responding to change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22</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Agile Values as Decision Tests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Individuals and interactions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Working outcomes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Customer collaboration</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Responding to change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23</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Agile Values as Decision Tests | Empirical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Make visible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Inspect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Decide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Adapt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24</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SCRUM MASTER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“The values guide trade-offs; they do not ban process, documentation, contracts, or plans.”</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Ask which choice improves learning and customer value now.</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25</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Scrum Is a Lightweight Framework</a:t>
            </a:r>
          </a:p>
        </p:txBody>
      </p:sp>
      <p:pic>
        <p:nvPicPr>
          <p:cNvPr id="5" name="Picture 4" descr="daily-scrum-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Scrum provides the minimum structure needed to expose reality and improve.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One Scrum Team</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Three accountabilities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Five events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Three artifacts and commitments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26</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Scrum Is a Lightweight Framework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One Scrum Team</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Three accountabilities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Five events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Three artifacts and commitments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27</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Scrum Is a Lightweight Framework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extra roles quietly taking accountability.</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Return ownership to the Scrum Team and make work transparent.</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28</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SCRUM MASTER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“Scrum provides the minimum structure needed to expose reality and improve.”</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Scrum Master coaching line, then prove it through: Return ownership to the Scrum Team and make work transparent.</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29</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Empiricism: Transparency-Inspection-Adaptation</a:t>
            </a:r>
          </a:p>
        </p:txBody>
      </p:sp>
      <p:pic>
        <p:nvPicPr>
          <p:cNvPr id="5" name="Picture 4" descr="retrospective-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Inspection without adaptation is reporting theatre.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Transparency creates a shared view</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Inspection compares reality with intent</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Adaptation changes product or process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Cadence makes learning routine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30</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Empiricism: Transparency-Inspection-Adaptation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Transparency creates a shared view</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Inspection compares reality with intent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Adaptation changes product or process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Cadence makes learning routine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31</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Empiricism: Transparency-Inspection-Adaptation | Empirical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Make visible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Inspect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Decide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Adapt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32</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SCRUM MASTER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Inspection without adaptation is reporting theatre.</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Name the decision each inspection can trigger.</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33</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Scrum Values Create the Climate</a:t>
            </a:r>
          </a:p>
        </p:txBody>
      </p:sp>
      <p:pic>
        <p:nvPicPr>
          <p:cNvPr id="5" name="Picture 4" descr="coaching-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Values are observable behaviours, not posters on a wall.</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Commitment to goals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Focus on the Sprint</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Openness about work</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Respect for capable people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34</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Scrum Values Create the Climate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Commitment to goals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Focus on the Sprint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Openness about work</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Respect for capable people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35</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Scrum Values Create the Climate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a blocker hidden to protect appearances.</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Reward early truth and responsible experimentation.</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36</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SCRUM MASTER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“Values are observable behaviours, not posters on a wall.”</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Reward early truth and responsible experimentation.</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37</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01 | Diagnose Scrum Foundations at HarborHealth</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 K2, K6, K7, A3</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HarborHealth is replacing a patient-booking service. Leaders approved a twelve-month requirements plan, but regulations, clinic workflows, and patient expectations are changing monthly. Teams report defects late and customer feedback arrives only at final acceptance.</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Scrum Master, Product Owner, Developer.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complexity and landscape diagnostic and feedback-loop map.</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Uses current and future business/customer evidence.</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instructions, tool steps, worksheets, mock data, and acceptance criteria are in the Learner Guide and individual activity folders.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38</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67D58"/>
                </a:solidFill>
                <a:latin typeface="Arial"/>
              </a:rPr>
              <a:t>EVIDENCE CHECK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Topic 1 | Evidence of competence</a:t>
            </a:r>
          </a:p>
        </p:txBody>
      </p:sp>
      <p:sp>
        <p:nvSpPr>
          <p:cNvPr id="5" name="Rounded Rectangle 4"/>
          <p:cNvSpPr/>
          <p:nvPr/>
        </p:nvSpPr>
        <p:spPr>
          <a:xfrm>
            <a:off x="713232" y="1920240"/>
            <a:ext cx="10771632" cy="3063240"/>
          </a:xfrm>
          <a:prstGeom prst="roundRect">
            <a:avLst/>
          </a:prstGeom>
          <a:solidFill>
            <a:srgbClr val="E8F7EE"/>
          </a:solidFill>
          <a:ln>
            <a:solidFill>
              <a:srgbClr val="B7E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10012680" cy="457200"/>
          </a:xfrm>
          <a:prstGeom prst="rect">
            <a:avLst/>
          </a:prstGeom>
          <a:noFill/>
        </p:spPr>
        <p:txBody>
          <a:bodyPr wrap="square" lIns="54864" rIns="54864" tIns="54864" bIns="54864" anchor="t">
            <a:spAutoFit/>
          </a:bodyPr>
          <a:lstStyle/>
          <a:p>
            <a:pPr algn="l"/>
            <a:r>
              <a:rPr sz="1500" b="1" i="0">
                <a:solidFill>
                  <a:srgbClr val="167D58"/>
                </a:solidFill>
                <a:latin typeface="Arial"/>
              </a:rPr>
              <a:t>PROOF OF SHARED MEANING</a:t>
            </a:r>
          </a:p>
        </p:txBody>
      </p:sp>
      <p:sp>
        <p:nvSpPr>
          <p:cNvPr id="7" name="TextBox 6"/>
          <p:cNvSpPr txBox="1"/>
          <p:nvPr/>
        </p:nvSpPr>
        <p:spPr>
          <a:xfrm>
            <a:off x="1051560" y="2971800"/>
            <a:ext cx="10012680" cy="1325880"/>
          </a:xfrm>
          <a:prstGeom prst="rect">
            <a:avLst/>
          </a:prstGeom>
          <a:noFill/>
        </p:spPr>
        <p:txBody>
          <a:bodyPr wrap="square" lIns="54864" rIns="54864" tIns="54864" bIns="54864" anchor="ctr">
            <a:spAutoFit/>
          </a:bodyPr>
          <a:lstStyle/>
          <a:p>
            <a:pPr algn="l"/>
            <a:r>
              <a:rPr sz="2400" b="1" i="0">
                <a:solidFill>
                  <a:srgbClr val="131B2A"/>
                </a:solidFill>
                <a:latin typeface="Arial"/>
              </a:rPr>
              <a:t>A Scrum Master intervention is credible when it improves transparency, preserves accountability, enables adaptation, and produces evidence of effectiveness.</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39</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48840"/>
            <a:ext cx="12191695" cy="1051560"/>
          </a:xfrm>
          <a:prstGeom prst="rect">
            <a:avLst/>
          </a:prstGeom>
          <a:noFill/>
        </p:spPr>
        <p:txBody>
          <a:bodyPr wrap="square" lIns="54864" rIns="54864" tIns="54864" bIns="54864" anchor="t">
            <a:spAutoFit/>
          </a:bodyPr>
          <a:lstStyle/>
          <a:p>
            <a:pPr algn="ctr"/>
            <a:r>
              <a:rPr sz="4400" b="1" i="0">
                <a:solidFill>
                  <a:srgbClr val="0E2A47"/>
                </a:solidFill>
                <a:latin typeface="Arial"/>
              </a:rPr>
              <a:t>Lunch Break</a:t>
            </a:r>
          </a:p>
        </p:txBody>
      </p:sp>
      <p:sp>
        <p:nvSpPr>
          <p:cNvPr id="6" name="TextBox 5"/>
          <p:cNvSpPr txBox="1"/>
          <p:nvPr/>
        </p:nvSpPr>
        <p:spPr>
          <a:xfrm>
            <a:off x="0" y="3520440"/>
            <a:ext cx="12191695" cy="548640"/>
          </a:xfrm>
          <a:prstGeom prst="rect">
            <a:avLst/>
          </a:prstGeom>
          <a:noFill/>
        </p:spPr>
        <p:txBody>
          <a:bodyPr wrap="square" lIns="54864" rIns="54864" tIns="54864" bIns="54864" anchor="t">
            <a:spAutoFit/>
          </a:bodyPr>
          <a:lstStyle/>
          <a:p>
            <a:pPr algn="ctr"/>
            <a:r>
              <a:rPr sz="1900" b="1" i="0">
                <a:solidFill>
                  <a:srgbClr val="E68300"/>
                </a:solidFill>
                <a:latin typeface="Arial"/>
              </a:rPr>
              <a:t>45 minutes</a:t>
            </a:r>
          </a:p>
        </p:txBody>
      </p:sp>
      <p:sp>
        <p:nvSpPr>
          <p:cNvPr id="7" name="TextBox 6"/>
          <p:cNvSpPr txBox="1"/>
          <p:nvPr/>
        </p:nvSpPr>
        <p:spPr>
          <a:xfrm>
            <a:off x="1965960" y="4617720"/>
            <a:ext cx="8229600" cy="502920"/>
          </a:xfrm>
          <a:prstGeom prst="rect">
            <a:avLst/>
          </a:prstGeom>
          <a:noFill/>
        </p:spPr>
        <p:txBody>
          <a:bodyPr wrap="square" lIns="54864" rIns="54864" tIns="54864" bIns="54864" anchor="t">
            <a:spAutoFit/>
          </a:bodyPr>
          <a:lstStyle/>
          <a:p>
            <a:pPr algn="ctr"/>
            <a:r>
              <a:rPr sz="1500" b="0" i="1">
                <a:solidFill>
                  <a:srgbClr val="5C6677"/>
                </a:solidFill>
                <a:latin typeface="Arial"/>
              </a:rPr>
              <a:t>Pause the noise. Return with attention.</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40</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aching-v6.png"/>
          <p:cNvPicPr>
            <a:picLocks noChangeAspect="1"/>
          </p:cNvPicPr>
          <p:nvPr/>
        </p:nvPicPr>
        <p:blipFill>
          <a:blip r:embed="rId2"/>
          <a:srcRect l="24186" r="24186"/>
          <a:stretch>
            <a:fillRect/>
          </a:stretch>
        </p:blipFill>
        <p:spPr>
          <a:xfrm>
            <a:off x="5897880" y="0"/>
            <a:ext cx="6291072" cy="6858000"/>
          </a:xfrm>
          <a:prstGeom prst="rect">
            <a:avLst/>
          </a:prstGeom>
        </p:spPr>
      </p:pic>
      <p:sp>
        <p:nvSpPr>
          <p:cNvPr id="4" name="Rectangle 3"/>
          <p:cNvSpPr/>
          <p:nvPr/>
        </p:nvSpPr>
        <p:spPr>
          <a:xfrm>
            <a:off x="5303520" y="0"/>
            <a:ext cx="2011680"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02</a:t>
            </a:r>
          </a:p>
        </p:txBody>
      </p:sp>
      <p:sp>
        <p:nvSpPr>
          <p:cNvPr id="6" name="TextBox 5"/>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Scrum Accountabilities and High-Performing Teams</a:t>
            </a:r>
          </a:p>
        </p:txBody>
      </p:sp>
      <p:sp>
        <p:nvSpPr>
          <p:cNvPr id="7" name="TextBox 6"/>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Scrum Master | Product Owner | Developers | self-management | team norms | K3, K5, A7</a:t>
            </a:r>
          </a:p>
        </p:txBody>
      </p:sp>
      <p:sp>
        <p:nvSpPr>
          <p:cNvPr id="8" name="TextBox 7"/>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Make value, flow, quality, and learning visible—then help the team adapt.</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41</a:t>
            </a:r>
          </a:p>
        </p:txBody>
      </p:sp>
    </p:spTree>
  </p:cSld>
  <p:clrMapOvr>
    <a:masterClrMapping/>
  </p:clrMapOvr>
  <p:transition spd="med" advClick="1">
    <p:push/>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One Team, Three Accountabilities</a:t>
            </a:r>
          </a:p>
        </p:txBody>
      </p:sp>
      <p:pic>
        <p:nvPicPr>
          <p:cNvPr id="5" name="Picture 4" descr="coaching-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Accountability clarifies ownership without creating silos.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Product Owner maximizes value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Scrum Master improves effectiveness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Developers create the Increment</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All share one Product Goal</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42</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One Team, Three Accountabilities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Product Owner maximizes value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Scrum Master improves effectiveness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Developers create the Increment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All share one Product Goal</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43</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One Team, Three Accountabilities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work bouncing between role boundaries.</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Use the shared goal to reconnect decisions.</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44</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SCRUM MASTER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Accountability clarifies ownership without creating silos.</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Use the shared goal to reconnect decisions.</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45</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The Scrum Master Is Accountable for Effectiveness</a:t>
            </a:r>
          </a:p>
        </p:txBody>
      </p:sp>
      <p:pic>
        <p:nvPicPr>
          <p:cNvPr id="5" name="Picture 4" descr="cover-hero-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Scrum Master creates conditions for the team to solve, learn, and improve.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Establish Scrum as defined</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Coach self-management</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Remove impediments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Enable useful events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46</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The Scrum Master Is Accountable for Effectiveness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Establish Scrum as defined</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Coach self-management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Remove impediments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Enable useful events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47</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The Scrum Master Is Accountable for Effectiveness | Empirical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Make visible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Inspect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Decide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Adapt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48</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SCRUM MASTER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“A Scrum Master creates conditions for the team to solve, learn, and improve.”</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Coach the system instead of owning the team's work.</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49</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Product Owner: Value and Product Backlog</a:t>
            </a:r>
          </a:p>
        </p:txBody>
      </p:sp>
      <p:pic>
        <p:nvPicPr>
          <p:cNvPr id="5" name="Picture 4" descr="backlog-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The Product Owner may delegate work but remains accountable for value decisions.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Develop and communicate Product Goal</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Create clear Product Backlog items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Order work</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Ensure transparency and understanding</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50</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Product Owner: Value and Product Backlog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Develop and communicate Product Goal</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Create clear Product Backlog items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Order work</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Ensure transparency and understanding</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51</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Product Owner: Value and Product Backlog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a committee with no final value decision.</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Make one accountable Product Owner visible.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52</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SCRUM MASTER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“The Product Owner may delegate work but remains accountable for value decisions.”</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Scrum Master coaching line, then prove it through: Make one accountable Product Owner visible.</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53</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Developers: A Usable Increment Every Sprint</a:t>
            </a:r>
          </a:p>
        </p:txBody>
      </p:sp>
      <p:pic>
        <p:nvPicPr>
          <p:cNvPr id="5" name="Picture 4" descr="daily-scrum-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Self-management means owning how work is turned into value.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Create the Sprint plan</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Build quality through Definition of Done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Adapt daily toward Sprint Goal</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Hold one another professionally accountable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54</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Developers: A Usable Increment Every Sprint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Create the Sprint plan</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Build quality through Definition of Done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Adapt daily toward Sprint Goal</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Hold one another professionally accountable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55</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Developers: A Usable Increment Every Sprint | Empirical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Make visible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Inspect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Decide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Adapt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56</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SCRUM MASTER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Self-management means owning how work is turned into value.</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Let Developers plan and adapt the work.</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57</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Build a High-Performing Team System</a:t>
            </a:r>
          </a:p>
        </p:txBody>
      </p:sp>
      <p:pic>
        <p:nvPicPr>
          <p:cNvPr id="5" name="Picture 4" descr="retrospective-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Performance grows when candour and accountability reinforce each other.</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Cross-functional skills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Psychological safety</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Working agreements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Stable membership</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58</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Build a High-Performing Team System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Cross-functional skills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Psychological safety</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Working agreements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Stable membership</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59</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Build a High-Performing Team System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polite silence masking risk.</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Create explicit norms for dissent, decisions, and help.</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60</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SCRUM MASTER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“Performance grows when candour and accountability reinforce each other.”</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Create explicit norms for dissent, decisions, and help.</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61</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02 | Create Accountabilities and Working Agreements</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K3, K5, A7</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digital payments team has a Product Owner, Scrum Master, developers, architects, and line managers, but decisions are slow. Managers assign Sprint tasks, the Scrum Master writes status reports, and the Product Owner shares backlog control with a steering committee.</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Scrum Master, Product Owner, Developer.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accountability decision map and working agreement canvas.</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Covers Product Owner, Scrum Master, and Developers.</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instructions, tool steps, worksheets, mock data, and acceptance criteria are in the Learner Guide and individual activity folders.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62</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Activity 03 | Coach a Team Through an Impediment</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K3, K5, A7</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retail platform team loses two days each Sprint waiting for a security review. Developers want the Scrum Master to chase approvals; Security says requests arrive incomplete; the Product Owner keeps adding urgent compliance items mid-Sprint.</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Scrum Master coach, Developer, Product Owner.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impediment cause map and coaching record.</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Separates symptom and cause.</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instructions, tool steps, worksheets, mock data, and acceptance criteria are in the Learner Guide and individual activity folders.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63</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67D58"/>
                </a:solidFill>
                <a:latin typeface="Arial"/>
              </a:rPr>
              <a:t>EVIDENCE CHECK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Topic 2 | Evidence of competence</a:t>
            </a:r>
          </a:p>
        </p:txBody>
      </p:sp>
      <p:sp>
        <p:nvSpPr>
          <p:cNvPr id="5" name="Rounded Rectangle 4"/>
          <p:cNvSpPr/>
          <p:nvPr/>
        </p:nvSpPr>
        <p:spPr>
          <a:xfrm>
            <a:off x="713232" y="1920240"/>
            <a:ext cx="10771632" cy="3063240"/>
          </a:xfrm>
          <a:prstGeom prst="roundRect">
            <a:avLst/>
          </a:prstGeom>
          <a:solidFill>
            <a:srgbClr val="E8F7EE"/>
          </a:solidFill>
          <a:ln>
            <a:solidFill>
              <a:srgbClr val="B7E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10012680" cy="457200"/>
          </a:xfrm>
          <a:prstGeom prst="rect">
            <a:avLst/>
          </a:prstGeom>
          <a:noFill/>
        </p:spPr>
        <p:txBody>
          <a:bodyPr wrap="square" lIns="54864" rIns="54864" tIns="54864" bIns="54864" anchor="t">
            <a:spAutoFit/>
          </a:bodyPr>
          <a:lstStyle/>
          <a:p>
            <a:pPr algn="l"/>
            <a:r>
              <a:rPr sz="1500" b="1" i="0">
                <a:solidFill>
                  <a:srgbClr val="167D58"/>
                </a:solidFill>
                <a:latin typeface="Arial"/>
              </a:rPr>
              <a:t>PROOF OF SHARED MEANING</a:t>
            </a:r>
          </a:p>
        </p:txBody>
      </p:sp>
      <p:sp>
        <p:nvSpPr>
          <p:cNvPr id="7" name="TextBox 6"/>
          <p:cNvSpPr txBox="1"/>
          <p:nvPr/>
        </p:nvSpPr>
        <p:spPr>
          <a:xfrm>
            <a:off x="1051560" y="2971800"/>
            <a:ext cx="10012680" cy="1325880"/>
          </a:xfrm>
          <a:prstGeom prst="rect">
            <a:avLst/>
          </a:prstGeom>
          <a:noFill/>
        </p:spPr>
        <p:txBody>
          <a:bodyPr wrap="square" lIns="54864" rIns="54864" tIns="54864" bIns="54864" anchor="ctr">
            <a:spAutoFit/>
          </a:bodyPr>
          <a:lstStyle/>
          <a:p>
            <a:pPr algn="l"/>
            <a:r>
              <a:rPr sz="2400" b="1" i="0">
                <a:solidFill>
                  <a:srgbClr val="131B2A"/>
                </a:solidFill>
                <a:latin typeface="Arial"/>
              </a:rPr>
              <a:t>A Scrum Master intervention is credible when it improves transparency, preserves accountability, enables adaptation, and produces evidence of effectiveness.</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64</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aily-scrum-v6.png"/>
          <p:cNvPicPr>
            <a:picLocks noChangeAspect="1"/>
          </p:cNvPicPr>
          <p:nvPr/>
        </p:nvPicPr>
        <p:blipFill>
          <a:blip r:embed="rId2"/>
          <a:srcRect l="24186" r="24186"/>
          <a:stretch>
            <a:fillRect/>
          </a:stretch>
        </p:blipFill>
        <p:spPr>
          <a:xfrm>
            <a:off x="5897880" y="0"/>
            <a:ext cx="6291072" cy="6858000"/>
          </a:xfrm>
          <a:prstGeom prst="rect">
            <a:avLst/>
          </a:prstGeom>
        </p:spPr>
      </p:pic>
      <p:sp>
        <p:nvSpPr>
          <p:cNvPr id="4" name="Rectangle 3"/>
          <p:cNvSpPr/>
          <p:nvPr/>
        </p:nvSpPr>
        <p:spPr>
          <a:xfrm>
            <a:off x="5303520" y="0"/>
            <a:ext cx="2011680"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03</a:t>
            </a:r>
          </a:p>
        </p:txBody>
      </p:sp>
      <p:sp>
        <p:nvSpPr>
          <p:cNvPr id="6" name="TextBox 5"/>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Scrum Events and Facilitation</a:t>
            </a:r>
          </a:p>
        </p:txBody>
      </p:sp>
      <p:sp>
        <p:nvSpPr>
          <p:cNvPr id="7" name="TextBox 6"/>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Sprint | Planning | Daily Scrum | Review | Retrospective | refinement | K4, A4, A5</a:t>
            </a:r>
          </a:p>
        </p:txBody>
      </p:sp>
      <p:sp>
        <p:nvSpPr>
          <p:cNvPr id="8" name="TextBox 7"/>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Make value, flow, quality, and learning visible—then help the team adapt.</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65</a:t>
            </a:r>
          </a:p>
        </p:txBody>
      </p:sp>
    </p:spTree>
  </p:cSld>
  <p:clrMapOvr>
    <a:masterClrMapping/>
  </p:clrMapOvr>
  <p:transition spd="med" advClick="1">
    <p:push/>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The Sprint Is the Container</a:t>
            </a:r>
          </a:p>
        </p:txBody>
      </p:sp>
      <p:pic>
        <p:nvPicPr>
          <p:cNvPr id="5" name="Picture 4" descr="daily-scrum-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Every Sprint turns an idea into a usable learning opportunity.</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Fixed length of one month or less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Product Goal remains the compass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Quality does not decrease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Scope may be clarified with Product Owner</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66</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The Sprint Is the Container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Fixed length of one month or less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Product Goal remains the compass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Quality does not decrease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Scope may be clarified with Product Owner</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67</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The Sprint Is the Container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scope churn erasing the Sprint Goal.</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Negotiate scope while protecting the goal and quality.</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68</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SCRUM MASTER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Every Sprint turns an idea into a usable learning opportunity.</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Negotiate scope while protecting the goal and quality.</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69</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Sprint Planning Answers Three Questions</a:t>
            </a:r>
          </a:p>
        </p:txBody>
      </p:sp>
      <p:pic>
        <p:nvPicPr>
          <p:cNvPr id="5" name="Picture 4" descr="backlog-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strong Sprint Goal gives coherence to flexible scope.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Why is this Sprint valuable?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What can be Done?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How will the work get Done?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Capacity, quality, and dependencies inform the plan</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70</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Sprint Planning Answers Three Questions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Why is this Sprint valuable?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What can be Done?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How will the work get Done?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Capacity, quality, and dependencies inform the plan</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71</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Sprint Planning Answers Three Questions | Empirical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Make visible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Inspect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Decide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Adapt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72</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SCRUM MASTER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“A strong Sprint Goal gives coherence to flexible scope.”</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Write one outcome-oriented Sprint Goal first.</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73</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Daily Scrum Inspects Progress to the Sprint Goal</a:t>
            </a:r>
          </a:p>
        </p:txBody>
      </p:sp>
      <p:pic>
        <p:nvPicPr>
          <p:cNvPr id="5" name="Picture 4" descr="sprint-review-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The Daily Scrum is a planning event, not a status report to the Scrum Master.</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15-minute event for Developers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Choose any useful structure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Expose impediments and adjust plan</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Detailed problem-solving happens after</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74</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Daily Scrum Inspects Progress to the Sprint Goal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15-minute event for Developers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Choose any useful structure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Expose impediments and adjust plan</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Detailed problem-solving happens after</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75</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Daily Scrum Inspects Progress to the Sprint Goal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each person reporting upward.</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Let Developers inspect the goal and re-plan together.</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76</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SCRUM MASTER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“The Daily Scrum is a planning event, not a status report to the Scrum Master.”</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Scrum Master coaching line, then prove it through: Let Developers inspect the goal and re-plan together.</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77</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Sprint Review Is a Working Session</a:t>
            </a:r>
          </a:p>
        </p:txBody>
      </p:sp>
      <p:pic>
        <p:nvPicPr>
          <p:cNvPr id="5" name="Picture 4" descr="retrospective-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Sprint Review changes what the team understands and may change what it does next.</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Inspect the outcome</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Discuss environmental change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Engage stakeholders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Adapt the Product Backlog</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78</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Sprint Review Is a Working Session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Inspect the outcome</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Discuss environmental change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Engage stakeholders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Adapt the Product Backlog</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79</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Sprint Review Is a Working Session | Empirical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Make visible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Inspect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Decide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Adapt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80</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SCRUM MASTER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A Sprint Review changes what the team understands and may change what it does next.</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Invite evidence, disagreement, and backlog adaptation.</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81</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Retrospective Turns Experience into Improvement</a:t>
            </a:r>
          </a:p>
        </p:txBody>
      </p:sp>
      <p:pic>
        <p:nvPicPr>
          <p:cNvPr id="5" name="Picture 4" descr="coaching-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Improvement becomes real only when it enters the work system.</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Inspect people, interactions, process, tools, and DoD</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Identify helpful and harmful assumptions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Prioritize the most useful change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Add improvement to the next Sprint</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82</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200" b="1" i="0">
                <a:solidFill>
                  <a:srgbClr val="131B2A"/>
                </a:solidFill>
                <a:latin typeface="Arial"/>
              </a:rPr>
              <a:t>Retrospective Turns Experience into Improvement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Inspect people, interactions, process, tools, and DoD</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Identify helpful and harmful assumptions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Prioritize the most useful change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Add improvement to the next Sprint</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83</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Retrospective Turns Experience into Improvement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a long list of unowned ideas.</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Select one experiment with an owner and measure.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84</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SCRUM MASTER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“Improvement becomes real only when it enters the work system.”</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Select one experiment with an owner and measure.</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85</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04 | Facilitate Sprint Planning and a Sprint Goal</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K4, A2, A4</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NovaTransit is improving a commuter app. The Product Backlog contains accessibility fixes, payment reliability work, journey-planning features, and marketing requests. Capacity is reduced by support duty and one unresolved vendor dependency.</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Scrum Master facilitator, Product Owner, Developers.</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sprint goal and sprint backlog forecast.</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Answers why, what, and how.</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instructions, tool steps, worksheets, mock data, and acceptance criteria are in the Learner Guide and individual activity folders.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86</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Activity 05 | Redesign the Daily Scrum Around Flow</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K4, A4, A7</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The Daily Scrum at BrightBank lasts 35 minutes. Each Developer reports to the Scrum Master while others multitask. Blockers repeat, work piles up in testing, and the Sprint Goal is not mentioned.</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Scrum Master, Developers, Product Owner observer.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daily scrum facilitation canvas and flow diagnosis.</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Finishes within 15 minutes.</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instructions, tool steps, worksheets, mock data, and acceptance criteria are in the Learner Guide and individual activity folders.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87</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06 | Turn a Sprint Review into Stakeholder Collaboration</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K2, K4, A1, A5</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An e-commerce team demos completed screens at Sprint Review, collects compliments, and ends. Customer-service data shows a rise in checkout confusion, but stakeholders see the backlog only after priorities are finalized.</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Scrum Master facilitator, Product Owner, Developers.</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sprint review agenda and stakeholder feedback map.</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Uses a real Increment and evidence.</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instructions, tool steps, worksheets, mock data, and acceptance criteria are in the Learner Guide and individual activity folders.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88</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67D58"/>
                </a:solidFill>
                <a:latin typeface="Arial"/>
              </a:rPr>
              <a:t>EVIDENCE CHECK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Topic 3 | Evidence of competence</a:t>
            </a:r>
          </a:p>
        </p:txBody>
      </p:sp>
      <p:sp>
        <p:nvSpPr>
          <p:cNvPr id="5" name="Rounded Rectangle 4"/>
          <p:cNvSpPr/>
          <p:nvPr/>
        </p:nvSpPr>
        <p:spPr>
          <a:xfrm>
            <a:off x="713232" y="1920240"/>
            <a:ext cx="10771632" cy="3063240"/>
          </a:xfrm>
          <a:prstGeom prst="roundRect">
            <a:avLst/>
          </a:prstGeom>
          <a:solidFill>
            <a:srgbClr val="E8F7EE"/>
          </a:solidFill>
          <a:ln>
            <a:solidFill>
              <a:srgbClr val="B7E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10012680" cy="457200"/>
          </a:xfrm>
          <a:prstGeom prst="rect">
            <a:avLst/>
          </a:prstGeom>
          <a:noFill/>
        </p:spPr>
        <p:txBody>
          <a:bodyPr wrap="square" lIns="54864" rIns="54864" tIns="54864" bIns="54864" anchor="t">
            <a:spAutoFit/>
          </a:bodyPr>
          <a:lstStyle/>
          <a:p>
            <a:pPr algn="l"/>
            <a:r>
              <a:rPr sz="1500" b="1" i="0">
                <a:solidFill>
                  <a:srgbClr val="167D58"/>
                </a:solidFill>
                <a:latin typeface="Arial"/>
              </a:rPr>
              <a:t>PROOF OF SHARED MEANING</a:t>
            </a:r>
          </a:p>
        </p:txBody>
      </p:sp>
      <p:sp>
        <p:nvSpPr>
          <p:cNvPr id="7" name="TextBox 6"/>
          <p:cNvSpPr txBox="1"/>
          <p:nvPr/>
        </p:nvSpPr>
        <p:spPr>
          <a:xfrm>
            <a:off x="1051560" y="2971800"/>
            <a:ext cx="10012680" cy="1325880"/>
          </a:xfrm>
          <a:prstGeom prst="rect">
            <a:avLst/>
          </a:prstGeom>
          <a:noFill/>
        </p:spPr>
        <p:txBody>
          <a:bodyPr wrap="square" lIns="54864" rIns="54864" tIns="54864" bIns="54864" anchor="ctr">
            <a:spAutoFit/>
          </a:bodyPr>
          <a:lstStyle/>
          <a:p>
            <a:pPr algn="l"/>
            <a:r>
              <a:rPr sz="2400" b="1" i="0">
                <a:solidFill>
                  <a:srgbClr val="131B2A"/>
                </a:solidFill>
                <a:latin typeface="Arial"/>
              </a:rPr>
              <a:t>A Scrum Master intervention is credible when it improves transparency, preserves accountability, enables adaptation, and produces evidence of effectiveness.</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89</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48840"/>
            <a:ext cx="12191695" cy="1051560"/>
          </a:xfrm>
          <a:prstGeom prst="rect">
            <a:avLst/>
          </a:prstGeom>
          <a:noFill/>
        </p:spPr>
        <p:txBody>
          <a:bodyPr wrap="square" lIns="54864" rIns="54864" tIns="54864" bIns="54864" anchor="t">
            <a:spAutoFit/>
          </a:bodyPr>
          <a:lstStyle/>
          <a:p>
            <a:pPr algn="ctr"/>
            <a:r>
              <a:rPr sz="4400" b="1" i="0">
                <a:solidFill>
                  <a:srgbClr val="0E2A47"/>
                </a:solidFill>
                <a:latin typeface="Arial"/>
              </a:rPr>
              <a:t>Afternoon Break</a:t>
            </a:r>
          </a:p>
        </p:txBody>
      </p:sp>
      <p:sp>
        <p:nvSpPr>
          <p:cNvPr id="6" name="TextBox 5"/>
          <p:cNvSpPr txBox="1"/>
          <p:nvPr/>
        </p:nvSpPr>
        <p:spPr>
          <a:xfrm>
            <a:off x="0" y="3520440"/>
            <a:ext cx="12191695" cy="548640"/>
          </a:xfrm>
          <a:prstGeom prst="rect">
            <a:avLst/>
          </a:prstGeom>
          <a:noFill/>
        </p:spPr>
        <p:txBody>
          <a:bodyPr wrap="square" lIns="54864" rIns="54864" tIns="54864" bIns="54864" anchor="t">
            <a:spAutoFit/>
          </a:bodyPr>
          <a:lstStyle/>
          <a:p>
            <a:pPr algn="ctr"/>
            <a:r>
              <a:rPr sz="1900" b="1" i="0">
                <a:solidFill>
                  <a:srgbClr val="E68300"/>
                </a:solidFill>
                <a:latin typeface="Arial"/>
              </a:rPr>
              <a:t>10 minutes</a:t>
            </a:r>
          </a:p>
        </p:txBody>
      </p:sp>
      <p:sp>
        <p:nvSpPr>
          <p:cNvPr id="7" name="TextBox 6"/>
          <p:cNvSpPr txBox="1"/>
          <p:nvPr/>
        </p:nvSpPr>
        <p:spPr>
          <a:xfrm>
            <a:off x="1965960" y="4617720"/>
            <a:ext cx="8229600" cy="502920"/>
          </a:xfrm>
          <a:prstGeom prst="rect">
            <a:avLst/>
          </a:prstGeom>
          <a:noFill/>
        </p:spPr>
        <p:txBody>
          <a:bodyPr wrap="square" lIns="54864" rIns="54864" tIns="54864" bIns="54864" anchor="t">
            <a:spAutoFit/>
          </a:bodyPr>
          <a:lstStyle/>
          <a:p>
            <a:pPr algn="ctr"/>
            <a:r>
              <a:rPr sz="1500" b="0" i="1">
                <a:solidFill>
                  <a:srgbClr val="5C6677"/>
                </a:solidFill>
                <a:latin typeface="Arial"/>
              </a:rPr>
              <a:t>Pause the noise. Return with attention.</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90</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retrospective-v6.png"/>
          <p:cNvPicPr>
            <a:picLocks noChangeAspect="1"/>
          </p:cNvPicPr>
          <p:nvPr/>
        </p:nvPicPr>
        <p:blipFill>
          <a:blip r:embed="rId2"/>
          <a:srcRect l="24186" r="24186"/>
          <a:stretch>
            <a:fillRect/>
          </a:stretch>
        </p:blipFill>
        <p:spPr>
          <a:xfrm>
            <a:off x="5897880" y="0"/>
            <a:ext cx="6291072" cy="6858000"/>
          </a:xfrm>
          <a:prstGeom prst="rect">
            <a:avLst/>
          </a:prstGeom>
        </p:spPr>
      </p:pic>
      <p:sp>
        <p:nvSpPr>
          <p:cNvPr id="4" name="Rectangle 3"/>
          <p:cNvSpPr/>
          <p:nvPr/>
        </p:nvSpPr>
        <p:spPr>
          <a:xfrm>
            <a:off x="5303520" y="0"/>
            <a:ext cx="2011680"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04</a:t>
            </a:r>
          </a:p>
        </p:txBody>
      </p:sp>
      <p:sp>
        <p:nvSpPr>
          <p:cNvPr id="6" name="TextBox 5"/>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Scrum Project Management and Evidence</a:t>
            </a:r>
          </a:p>
        </p:txBody>
      </p:sp>
      <p:sp>
        <p:nvSpPr>
          <p:cNvPr id="7" name="TextBox 6"/>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goals | forecasting | flow | burn charts | experimentation | change | K4, K6, A2, A4, A5, A6</a:t>
            </a:r>
          </a:p>
        </p:txBody>
      </p:sp>
      <p:sp>
        <p:nvSpPr>
          <p:cNvPr id="8" name="TextBox 7"/>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Make value, flow, quality, and learning visible—then help the team adapt.</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91</a:t>
            </a:r>
          </a:p>
        </p:txBody>
      </p:sp>
    </p:spTree>
  </p:cSld>
  <p:clrMapOvr>
    <a:masterClrMapping/>
  </p:clrMapOvr>
  <p:transition spd="med" advClick="1">
    <p:push/>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Manage Outcomes Across Three Horizons</a:t>
            </a:r>
          </a:p>
        </p:txBody>
      </p:sp>
      <p:pic>
        <p:nvPicPr>
          <p:cNvPr id="5" name="Picture 4" descr="retrospective-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Goals stabilize purpose while plans remain adaptable.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Product Goal gives long-term direction</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Sprint Goal focuses the current Sprint</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Definition of Done protects quality</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Daily plan adapts within the Sprint</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92</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Manage Outcomes Across Three Horizons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Product Goal gives long-term direction</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Sprint Goal focuses the current Sprint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Definition of Done protects quality</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Daily plan adapts within the Sprint</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93</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Manage Outcomes Across Three Horizons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teams tracking tasks without outcome.</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Connect every forecast to a goal and evidence.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94</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SCRUM MASTER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“Goals stabilize purpose while plans remain adaptable.”</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Scrum Master coaching line, then prove it through: Connect every forecast to a goal and evidence.</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95</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Forecast with Evidence, Not Certainty</a:t>
            </a:r>
          </a:p>
        </p:txBody>
      </p:sp>
      <p:pic>
        <p:nvPicPr>
          <p:cNvPr id="5" name="Picture 4" descr="daily-scrum-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forecast is a probability informed by history, not a promise extracted from the team.</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Throughput shows completed items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Cycle time shows elapsed flow</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Velocity is local planning evidence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Capacity reflects current constraints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96</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Forecast with Evidence, Not Certainty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Throughput shows completed items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Cycle time shows elapsed flow</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Velocity is local planning evidence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Capacity reflects current constraints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97</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Forecast with Evidence, Not Certainty | Empirical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Make visible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Inspect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Decide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Adapt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98</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SCRUM MASTER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A forecast is a probability informed by history, not a promise extracted from the team.</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Use trends for conversation, never performance ranking.</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99</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Read Burndown and Burnup Together</a:t>
            </a:r>
          </a:p>
        </p:txBody>
      </p:sp>
      <p:pic>
        <p:nvPicPr>
          <p:cNvPr id="5" name="Picture 4" descr="backlog-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Charts reveal patterns; the team must still interpret causes and decide.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Burndown shows remaining work</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Burnup separates progress from scope change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Both require transparent definitions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Neither measures customer value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100</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Read Burndown and Burnup Together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Burndown shows remaining work</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Burnup separates progress from scope change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Both require transparent definitions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Neither measures customer value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101</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Read Burndown and Burnup Together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a flat line blamed on individuals.</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Ask what changed in scope, flow, quality, or dependencies.</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102</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SCRUM MASTER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“Charts reveal patterns; the team must still interpret causes and decide.”</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Ask what changed in scope, flow, quality, or dependencies.</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103</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Design Safe-to-Learn Experiments</a:t>
            </a:r>
          </a:p>
        </p:txBody>
      </p:sp>
      <p:pic>
        <p:nvPicPr>
          <p:cNvPr id="5" name="Picture 4" descr="coaching-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An experiment is disciplined learning under uncertainty.</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State a testable hypothesis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Limit cost and time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Define evidence before starting</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Decide pivot, persevere, or stop</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104</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Design Safe-to-Learn Experiments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State a testable hypothesis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Limit cost and time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Define evidence before starting</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Decide pivot, persevere, or stop</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105</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Design Safe-to-Learn Experiments | Empirical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Make visible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Inspect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Decide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Adapt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106</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SCRUM MASTER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“An experiment is disciplined learning under uncertainty.”</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Scrum Master coaching line, then prove it through: Pre-commit to the decision rule.</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107</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Change Management Through Scrum</a:t>
            </a:r>
          </a:p>
        </p:txBody>
      </p:sp>
      <p:pic>
        <p:nvPicPr>
          <p:cNvPr id="5" name="Picture 4" descr="sprint-review-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Scrum events provide repeated opportunities to involve people and adapt change.</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Create awareness through transparency</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Build desire through participation</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Develop knowledge and ability through practice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Reinforce with cadence and evidence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108</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Change Management Through Scrum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Create awareness through transparency</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Build desire through participation</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Develop knowledge and ability through practice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Reinforce with cadence and evidence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109</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Change Management Through Scrum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change communicated only at launch.</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Use every Sprint as a feedback and reinforcement cycle.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110</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SCRUM MASTER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Scrum events provide repeated opportunities to involve people and adapt change.</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Use every Sprint as a feedback and reinforcement cycle.</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111</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EVIDENCE | EDITABLE POWERPOINT CHART</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Sprint Burndown | Remaining work</a:t>
            </a:r>
          </a:p>
        </p:txBody>
      </p:sp>
      <p:graphicFrame>
        <p:nvGraphicFramePr>
          <p:cNvPr id="5" name="Chart 4"/>
          <p:cNvGraphicFramePr>
            <a:graphicFrameLocks noGrp="1"/>
          </p:cNvGraphicFramePr>
          <p:nvPr/>
        </p:nvGraphicFramePr>
        <p:xfrm>
          <a:off x="749808" y="1517904"/>
          <a:ext cx="10652760" cy="4160520"/>
        </p:xfrm>
        <a:graphic>
          <a:graphicData uri="http://schemas.openxmlformats.org/drawingml/2006/chart">
            <c:chart xmlns:c="http://schemas.openxmlformats.org/drawingml/2006/chart" r:id="rId2"/>
          </a:graphicData>
        </a:graphic>
      </p:graphicFrame>
      <p:sp>
        <p:nvSpPr>
          <p:cNvPr id="6" name="Rounded Rectangle 5"/>
          <p:cNvSpPr/>
          <p:nvPr/>
        </p:nvSpPr>
        <p:spPr>
          <a:xfrm>
            <a:off x="749808" y="5724144"/>
            <a:ext cx="10652760" cy="50292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797296"/>
            <a:ext cx="9966960" cy="310896"/>
          </a:xfrm>
          <a:prstGeom prst="rect">
            <a:avLst/>
          </a:prstGeom>
          <a:noFill/>
        </p:spPr>
        <p:txBody>
          <a:bodyPr wrap="square" lIns="54864" rIns="54864" tIns="54864" bIns="54864" anchor="t">
            <a:spAutoFit/>
          </a:bodyPr>
          <a:lstStyle/>
          <a:p>
            <a:pPr algn="l"/>
            <a:r>
              <a:rPr sz="1050" b="1" i="0">
                <a:solidFill>
                  <a:srgbClr val="131B2A"/>
                </a:solidFill>
                <a:latin typeface="Arial"/>
              </a:rPr>
              <a:t>WHAT THE DATA SHOWS | Actual work falls slowly until a late drop; inspect item size, flow, dependencies, and quality (Indicative teaching data.)</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112</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EVIDENCE | EDITABLE POWERPOINT CHART</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Sprint Burnup | Done versus scope</a:t>
            </a:r>
          </a:p>
        </p:txBody>
      </p:sp>
      <p:graphicFrame>
        <p:nvGraphicFramePr>
          <p:cNvPr id="5" name="Chart 4"/>
          <p:cNvGraphicFramePr>
            <a:graphicFrameLocks noGrp="1"/>
          </p:cNvGraphicFramePr>
          <p:nvPr/>
        </p:nvGraphicFramePr>
        <p:xfrm>
          <a:off x="749808" y="1517904"/>
          <a:ext cx="10652760" cy="4160520"/>
        </p:xfrm>
        <a:graphic>
          <a:graphicData uri="http://schemas.openxmlformats.org/drawingml/2006/chart">
            <c:chart xmlns:c="http://schemas.openxmlformats.org/drawingml/2006/chart" r:id="rId2"/>
          </a:graphicData>
        </a:graphic>
      </p:graphicFrame>
      <p:sp>
        <p:nvSpPr>
          <p:cNvPr id="6" name="Rounded Rectangle 5"/>
          <p:cNvSpPr/>
          <p:nvPr/>
        </p:nvSpPr>
        <p:spPr>
          <a:xfrm>
            <a:off x="749808" y="5724144"/>
            <a:ext cx="10652760" cy="50292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797296"/>
            <a:ext cx="9966960" cy="310896"/>
          </a:xfrm>
          <a:prstGeom prst="rect">
            <a:avLst/>
          </a:prstGeom>
          <a:noFill/>
        </p:spPr>
        <p:txBody>
          <a:bodyPr wrap="square" lIns="54864" rIns="54864" tIns="54864" bIns="54864" anchor="t">
            <a:spAutoFit/>
          </a:bodyPr>
          <a:lstStyle/>
          <a:p>
            <a:pPr algn="l"/>
            <a:r>
              <a:rPr sz="1050" b="1" i="0">
                <a:solidFill>
                  <a:srgbClr val="131B2A"/>
                </a:solidFill>
                <a:latin typeface="Arial"/>
              </a:rPr>
              <a:t>WHAT THE DATA SHOWS | The scope line exposes change that a burndown can hide; interpret progress and scope separately (Indicative teaching data.)</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113</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EVIDENCE | EDITABLE POWERPOINT CHART</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Cycle Time by work item</a:t>
            </a:r>
          </a:p>
        </p:txBody>
      </p:sp>
      <p:graphicFrame>
        <p:nvGraphicFramePr>
          <p:cNvPr id="5" name="Chart 4"/>
          <p:cNvGraphicFramePr>
            <a:graphicFrameLocks noGrp="1"/>
          </p:cNvGraphicFramePr>
          <p:nvPr/>
        </p:nvGraphicFramePr>
        <p:xfrm>
          <a:off x="749808" y="1517904"/>
          <a:ext cx="10652760" cy="4160520"/>
        </p:xfrm>
        <a:graphic>
          <a:graphicData uri="http://schemas.openxmlformats.org/drawingml/2006/chart">
            <c:chart xmlns:c="http://schemas.openxmlformats.org/drawingml/2006/chart" r:id="rId2"/>
          </a:graphicData>
        </a:graphic>
      </p:graphicFrame>
      <p:sp>
        <p:nvSpPr>
          <p:cNvPr id="6" name="Rounded Rectangle 5"/>
          <p:cNvSpPr/>
          <p:nvPr/>
        </p:nvSpPr>
        <p:spPr>
          <a:xfrm>
            <a:off x="749808" y="5724144"/>
            <a:ext cx="10652760" cy="50292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797296"/>
            <a:ext cx="9966960" cy="310896"/>
          </a:xfrm>
          <a:prstGeom prst="rect">
            <a:avLst/>
          </a:prstGeom>
          <a:noFill/>
        </p:spPr>
        <p:txBody>
          <a:bodyPr wrap="square" lIns="54864" rIns="54864" tIns="54864" bIns="54864" anchor="t">
            <a:spAutoFit/>
          </a:bodyPr>
          <a:lstStyle/>
          <a:p>
            <a:pPr algn="l"/>
            <a:r>
              <a:rPr sz="1050" b="1" i="0">
                <a:solidFill>
                  <a:srgbClr val="131B2A"/>
                </a:solidFill>
                <a:latin typeface="Arial"/>
              </a:rPr>
              <a:t>WHAT THE DATA SHOWS | Items F and D are signals for inspection; ask what delayed flow before setting a target (Indicative teaching data.)</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114</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Activity 07 | Interpret Burn Charts and Flow Metrics</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K4, K6, A4, A6</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public-services team reports stable velocity, but work regularly carries over and stakeholders are surprised by scope changes. Leaders want a dashboard to compare teams, while Developers want evidence that helps them improve.</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Scrum Master, Developers, Product Owner.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metric interpretation sheet and evidence-to-decision map.</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Reads burndown and burnup correctly.</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instructions, tool steps, worksheets, mock data, and acceptance criteria are in the Learner Guide and individual activity folders.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115</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Activity 08 | Run an Evidence-Based Retrospective</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K4, A5, A6, A7</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media team has repeated the same Retrospective actions for three Sprints. Participation is uneven, actions have no owners, and the team blames an external dependency without testing alternatives.</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Scrum Master facilitator, Developers, Product Owner.</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retrospective evidence board and improvement hypothesis.</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Creates psychological safety.</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instructions, tool steps, worksheets, mock data, and acceptance criteria are in the Learner Guide and individual activity folders.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116</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67D58"/>
                </a:solidFill>
                <a:latin typeface="Arial"/>
              </a:rPr>
              <a:t>EVIDENCE CHECK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Topic 4 | Evidence of competence</a:t>
            </a:r>
          </a:p>
        </p:txBody>
      </p:sp>
      <p:sp>
        <p:nvSpPr>
          <p:cNvPr id="5" name="Rounded Rectangle 4"/>
          <p:cNvSpPr/>
          <p:nvPr/>
        </p:nvSpPr>
        <p:spPr>
          <a:xfrm>
            <a:off x="713232" y="1920240"/>
            <a:ext cx="10771632" cy="3063240"/>
          </a:xfrm>
          <a:prstGeom prst="roundRect">
            <a:avLst/>
          </a:prstGeom>
          <a:solidFill>
            <a:srgbClr val="E8F7EE"/>
          </a:solidFill>
          <a:ln>
            <a:solidFill>
              <a:srgbClr val="B7E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10012680" cy="457200"/>
          </a:xfrm>
          <a:prstGeom prst="rect">
            <a:avLst/>
          </a:prstGeom>
          <a:noFill/>
        </p:spPr>
        <p:txBody>
          <a:bodyPr wrap="square" lIns="54864" rIns="54864" tIns="54864" bIns="54864" anchor="t">
            <a:spAutoFit/>
          </a:bodyPr>
          <a:lstStyle/>
          <a:p>
            <a:pPr algn="l"/>
            <a:r>
              <a:rPr sz="1500" b="1" i="0">
                <a:solidFill>
                  <a:srgbClr val="167D58"/>
                </a:solidFill>
                <a:latin typeface="Arial"/>
              </a:rPr>
              <a:t>PROOF OF SHARED MEANING</a:t>
            </a:r>
          </a:p>
        </p:txBody>
      </p:sp>
      <p:sp>
        <p:nvSpPr>
          <p:cNvPr id="7" name="TextBox 6"/>
          <p:cNvSpPr txBox="1"/>
          <p:nvPr/>
        </p:nvSpPr>
        <p:spPr>
          <a:xfrm>
            <a:off x="1051560" y="2971800"/>
            <a:ext cx="10012680" cy="1325880"/>
          </a:xfrm>
          <a:prstGeom prst="rect">
            <a:avLst/>
          </a:prstGeom>
          <a:noFill/>
        </p:spPr>
        <p:txBody>
          <a:bodyPr wrap="square" lIns="54864" rIns="54864" tIns="54864" bIns="54864" anchor="ctr">
            <a:spAutoFit/>
          </a:bodyPr>
          <a:lstStyle/>
          <a:p>
            <a:pPr algn="l"/>
            <a:r>
              <a:rPr sz="2400" b="1" i="0">
                <a:solidFill>
                  <a:srgbClr val="131B2A"/>
                </a:solidFill>
                <a:latin typeface="Arial"/>
              </a:rPr>
              <a:t>A Scrum Master intervention is credible when it improves transparency, preserves accountability, enables adaptation, and produces evidence of effectiveness.</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117</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acklog-v6.png"/>
          <p:cNvPicPr>
            <a:picLocks noChangeAspect="1"/>
          </p:cNvPicPr>
          <p:nvPr/>
        </p:nvPicPr>
        <p:blipFill>
          <a:blip r:embed="rId2"/>
          <a:srcRect l="24186" r="24186"/>
          <a:stretch>
            <a:fillRect/>
          </a:stretch>
        </p:blipFill>
        <p:spPr>
          <a:xfrm>
            <a:off x="5897880" y="0"/>
            <a:ext cx="6291072" cy="6858000"/>
          </a:xfrm>
          <a:prstGeom prst="rect">
            <a:avLst/>
          </a:prstGeom>
        </p:spPr>
      </p:pic>
      <p:sp>
        <p:nvSpPr>
          <p:cNvPr id="4" name="Rectangle 3"/>
          <p:cNvSpPr/>
          <p:nvPr/>
        </p:nvSpPr>
        <p:spPr>
          <a:xfrm>
            <a:off x="5303520" y="0"/>
            <a:ext cx="2011680"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05</a:t>
            </a:r>
          </a:p>
        </p:txBody>
      </p:sp>
      <p:sp>
        <p:nvSpPr>
          <p:cNvPr id="6" name="TextBox 5"/>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Scrum Artifacts and Information Radiators</a:t>
            </a:r>
          </a:p>
        </p:txBody>
      </p:sp>
      <p:sp>
        <p:nvSpPr>
          <p:cNvPr id="7" name="TextBox 6"/>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Product Backlog | Sprint Backlog | Increment | commitments | collaboration | K7, A1, A2, A3, A6</a:t>
            </a:r>
          </a:p>
        </p:txBody>
      </p:sp>
      <p:sp>
        <p:nvSpPr>
          <p:cNvPr id="8" name="TextBox 7"/>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Make value, flow, quality, and learning visible—then help the team adapt.</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118</a:t>
            </a:r>
          </a:p>
        </p:txBody>
      </p:sp>
    </p:spTree>
  </p:cSld>
  <p:clrMapOvr>
    <a:masterClrMapping/>
  </p:clrMapOvr>
  <p:transition spd="med" advClick="1">
    <p:push/>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Product Backlog + Product Goal</a:t>
            </a:r>
          </a:p>
        </p:txBody>
      </p:sp>
      <p:pic>
        <p:nvPicPr>
          <p:cNvPr id="5" name="Picture 4" descr="backlog-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Ordering expresses the next best use of the Scrum Team's capacity.</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Emergent ordered list</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Single source of product work</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Items gain detail through refinement</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Product Goal describes a future state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119</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Product Backlog + Product Goal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Emergent ordered list</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Single source of product work</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Items gain detail through refinement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Product Goal describes a future state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120</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Product Backlog + Product Goal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priority labels with no trade-off.</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Order items explicitly using value, risk, learning, and dependency.</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121</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SCRUM MASTER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“Ordering expresses the next best use of the Scrum Team's capacity.”</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Scrum Master coaching line, then prove it through: Order items explicitly using value, risk, learning, and dependency.</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122</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Refinement Makes Work Ready for Conversation</a:t>
            </a:r>
          </a:p>
        </p:txBody>
      </p:sp>
      <p:pic>
        <p:nvPicPr>
          <p:cNvPr id="5" name="Picture 4" descr="sprint-review-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Refinement improves shared understanding; it does not freeze requirements.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Break down and clarify items</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Add description, order, and size</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Developers estimate</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Do not create a hidden approval gate</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123</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Refinement Makes Work Ready for Conversation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Break down and clarify items</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Add description, order, and size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Developers estimate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Do not create a hidden approval gate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124</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Refinement Makes Work Ready for Conversation | Empirical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Make visible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Inspect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Decide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Adapt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125</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SCRUM MASTER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Refinement improves shared understanding; it does not freeze requirements.</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Refine enough for a responsible forecast.</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126</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Sprint Backlog + Sprint Goal</a:t>
            </a:r>
          </a:p>
        </p:txBody>
      </p:sp>
      <p:pic>
        <p:nvPicPr>
          <p:cNvPr id="5" name="Picture 4" descr="daily-scrum-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The Sprint Backlog is a plan by and for Developers.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Sprint Goal explains why</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Selected items show what</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Actionable plan shows how</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Developers update it throughout the Sprint</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127</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Sprint Backlog + Sprint Goal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Sprint Goal explains why</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Selected items show what</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Actionable plan shows how</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Developers update it throughout the Sprint</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128</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Sprint Backlog + Sprint Goal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a board maintained by the Scrum Master.</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Make the plan visible where Developers adapt it.</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129</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SCRUM MASTER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“The Sprint Backlog is a plan by and for Developers.”</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Make the plan visible where Developers adapt it.</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130</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Increment + Definition of Done</a:t>
            </a:r>
          </a:p>
        </p:txBody>
      </p:sp>
      <p:pic>
        <p:nvPicPr>
          <p:cNvPr id="5" name="Picture 4" descr="cover-hero-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Done means usable and transparent—not almost finished.</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Usable step toward Product Goal</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Additive to prior Increments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Verified against one quality standard</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May be released before Sprint Review</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131</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Increment + Definition of Done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Usable step toward Product Goal</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Additive to prior Increments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Verified against one quality standard</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May be released before Sprint Review</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132</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PRACTICE LENS | CONCEPTUAL REHEARSAL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Increment + Definition of Done | Empirical loop</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Make visible</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Inspect</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Interpret</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Decide</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Adapt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133</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566928"/>
            <a:ext cx="9966960" cy="320040"/>
          </a:xfrm>
          <a:prstGeom prst="rect">
            <a:avLst/>
          </a:prstGeom>
          <a:noFill/>
        </p:spPr>
        <p:txBody>
          <a:bodyPr wrap="square" lIns="54864" rIns="54864" tIns="54864" bIns="54864" anchor="t">
            <a:spAutoFit/>
          </a:bodyPr>
          <a:lstStyle/>
          <a:p>
            <a:pPr algn="l"/>
            <a:r>
              <a:rPr sz="1000" b="1" i="0">
                <a:solidFill>
                  <a:srgbClr val="008C95"/>
                </a:solidFill>
                <a:latin typeface="Arial"/>
              </a:rPr>
              <a:t>SCRUM MASTER PITCH</a:t>
            </a:r>
          </a:p>
        </p:txBody>
      </p:sp>
      <p:sp>
        <p:nvSpPr>
          <p:cNvPr id="5" name="TextBox 4"/>
          <p:cNvSpPr txBox="1"/>
          <p:nvPr/>
        </p:nvSpPr>
        <p:spPr>
          <a:xfrm>
            <a:off x="749808" y="1170432"/>
            <a:ext cx="9966960" cy="2514600"/>
          </a:xfrm>
          <a:prstGeom prst="rect">
            <a:avLst/>
          </a:prstGeom>
          <a:noFill/>
        </p:spPr>
        <p:txBody>
          <a:bodyPr wrap="square" lIns="54864" rIns="54864" tIns="54864" bIns="54864" anchor="ctr">
            <a:spAutoFit/>
          </a:bodyPr>
          <a:lstStyle/>
          <a:p>
            <a:pPr algn="l"/>
            <a:r>
              <a:rPr sz="3500" b="1" i="0">
                <a:solidFill>
                  <a:srgbClr val="0E2A47"/>
                </a:solidFill>
                <a:latin typeface="Arial"/>
              </a:rPr>
              <a:t>“Done means usable and transparent—not almost finished.”</a:t>
            </a:r>
          </a:p>
        </p:txBody>
      </p:sp>
      <p:sp>
        <p:nvSpPr>
          <p:cNvPr id="6" name="Rounded Rectangle 5"/>
          <p:cNvSpPr/>
          <p:nvPr/>
        </p:nvSpPr>
        <p:spPr>
          <a:xfrm>
            <a:off x="749808" y="4069080"/>
            <a:ext cx="10149840" cy="123444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370832"/>
            <a:ext cx="9601200" cy="658368"/>
          </a:xfrm>
          <a:prstGeom prst="rect">
            <a:avLst/>
          </a:prstGeom>
          <a:noFill/>
        </p:spPr>
        <p:txBody>
          <a:bodyPr wrap="square" lIns="54864" rIns="54864" tIns="54864" bIns="54864" anchor="ctr">
            <a:spAutoFit/>
          </a:bodyPr>
          <a:lstStyle/>
          <a:p>
            <a:pPr algn="l"/>
            <a:r>
              <a:rPr sz="1700" b="0" i="0">
                <a:solidFill>
                  <a:srgbClr val="131B2A"/>
                </a:solidFill>
                <a:latin typeface="Arial"/>
              </a:rPr>
              <a:t>Use this as the Scrum Master coaching line, then prove it through: Create one shared Definition of Done for the product.</a:t>
            </a:r>
          </a:p>
        </p:txBody>
      </p:sp>
      <p:sp>
        <p:nvSpPr>
          <p:cNvPr id="8" name="TextBox 7"/>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008C95"/>
                </a:solidFill>
                <a:latin typeface="Arial"/>
              </a:rPr>
              <a:t>ORIGINAL COURSE MAXIM</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134</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THE COMMUNICATION ADVANTAGE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Information Radiators Enable Collaboration</a:t>
            </a:r>
          </a:p>
        </p:txBody>
      </p:sp>
      <p:pic>
        <p:nvPicPr>
          <p:cNvPr id="5" name="Picture 4" descr="coaching-v6.png"/>
          <p:cNvPicPr>
            <a:picLocks noChangeAspect="1"/>
          </p:cNvPicPr>
          <p:nvPr/>
        </p:nvPicPr>
        <p:blipFill>
          <a:blip r:embed="rId2"/>
          <a:srcRect l="18129" r="18129"/>
          <a:stretch>
            <a:fillRect/>
          </a:stretch>
        </p:blipFill>
        <p:spPr>
          <a:xfrm>
            <a:off x="6720840" y="1463040"/>
            <a:ext cx="5468112" cy="4828032"/>
          </a:xfrm>
          <a:prstGeom prst="rect">
            <a:avLst/>
          </a:prstGeom>
        </p:spPr>
      </p:pic>
      <p:sp>
        <p:nvSpPr>
          <p:cNvPr id="6" name="Rounded Rectangle 5"/>
          <p:cNvSpPr/>
          <p:nvPr/>
        </p:nvSpPr>
        <p:spPr>
          <a:xfrm>
            <a:off x="621792" y="1536192"/>
            <a:ext cx="5742432" cy="1078992"/>
          </a:xfrm>
          <a:prstGeom prst="round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737360"/>
            <a:ext cx="5212080" cy="658368"/>
          </a:xfrm>
          <a:prstGeom prst="rect">
            <a:avLst/>
          </a:prstGeom>
          <a:noFill/>
        </p:spPr>
        <p:txBody>
          <a:bodyPr wrap="square" lIns="54864" rIns="54864" tIns="54864" bIns="54864" anchor="ctr">
            <a:spAutoFit/>
          </a:bodyPr>
          <a:lstStyle/>
          <a:p>
            <a:pPr algn="l"/>
            <a:r>
              <a:rPr sz="1650" b="1" i="1">
                <a:solidFill>
                  <a:srgbClr val="FFFFFF"/>
                </a:solidFill>
                <a:latin typeface="Arial"/>
              </a:rPr>
              <a:t>A visible artifact is useful only when people can act on what it reveals.</a:t>
            </a:r>
          </a:p>
        </p:txBody>
      </p:sp>
      <p:sp>
        <p:nvSpPr>
          <p:cNvPr id="8" name="Rounded Rectangle 7"/>
          <p:cNvSpPr/>
          <p:nvPr/>
        </p:nvSpPr>
        <p:spPr>
          <a:xfrm>
            <a:off x="658368" y="2880360"/>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880360"/>
            <a:ext cx="73152" cy="6035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971800"/>
            <a:ext cx="4846320" cy="402336"/>
          </a:xfrm>
          <a:prstGeom prst="rect">
            <a:avLst/>
          </a:prstGeom>
          <a:noFill/>
        </p:spPr>
        <p:txBody>
          <a:bodyPr wrap="square" lIns="54864" rIns="54864" tIns="54864" bIns="54864" anchor="t">
            <a:spAutoFit/>
          </a:bodyPr>
          <a:lstStyle/>
          <a:p>
            <a:pPr algn="l"/>
            <a:r>
              <a:rPr sz="1400" b="1" i="0">
                <a:solidFill>
                  <a:srgbClr val="131B2A"/>
                </a:solidFill>
                <a:latin typeface="Arial"/>
              </a:rPr>
              <a:t>Show goals and current flow</a:t>
            </a:r>
          </a:p>
        </p:txBody>
      </p:sp>
      <p:sp>
        <p:nvSpPr>
          <p:cNvPr id="11" name="Rounded Rectangle 10"/>
          <p:cNvSpPr/>
          <p:nvPr/>
        </p:nvSpPr>
        <p:spPr>
          <a:xfrm>
            <a:off x="658368" y="3630168"/>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630168"/>
            <a:ext cx="73152" cy="6035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721607"/>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Expose quality and impediments</a:t>
            </a:r>
          </a:p>
        </p:txBody>
      </p:sp>
      <p:sp>
        <p:nvSpPr>
          <p:cNvPr id="14" name="Rounded Rectangle 13"/>
          <p:cNvSpPr/>
          <p:nvPr/>
        </p:nvSpPr>
        <p:spPr>
          <a:xfrm>
            <a:off x="658368" y="4379976"/>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379976"/>
            <a:ext cx="73152" cy="6035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471416"/>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Keep data near decision-makers</a:t>
            </a:r>
          </a:p>
        </p:txBody>
      </p:sp>
      <p:sp>
        <p:nvSpPr>
          <p:cNvPr id="17" name="Rounded Rectangle 16"/>
          <p:cNvSpPr/>
          <p:nvPr/>
        </p:nvSpPr>
        <p:spPr>
          <a:xfrm>
            <a:off x="658368" y="5129784"/>
            <a:ext cx="5440680" cy="603504"/>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5129784"/>
            <a:ext cx="73152" cy="603504"/>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221224"/>
            <a:ext cx="4846320" cy="402336"/>
          </a:xfrm>
          <a:prstGeom prst="rect">
            <a:avLst/>
          </a:prstGeom>
          <a:noFill/>
        </p:spPr>
        <p:txBody>
          <a:bodyPr wrap="square" lIns="54864" rIns="54864" tIns="54864" bIns="54864" anchor="t">
            <a:spAutoFit/>
          </a:bodyPr>
          <a:lstStyle/>
          <a:p>
            <a:pPr algn="l"/>
            <a:r>
              <a:rPr sz="1400" b="0" i="0">
                <a:solidFill>
                  <a:srgbClr val="131B2A"/>
                </a:solidFill>
                <a:latin typeface="Arial"/>
              </a:rPr>
              <a:t>Protect transparency from vanity metrics</a:t>
            </a:r>
          </a:p>
        </p:txBody>
      </p:sp>
      <p:sp>
        <p:nvSpPr>
          <p:cNvPr id="20" name="TextBox 1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1" name="TextBox 2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135</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FROM PRINCIPLE TO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Information Radiators Enable Collaboration | What mastery looks like</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Show goals and current flow</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Expose quality and impediments</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Keep data near decision-makers</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Protect transparency from vanity metrics</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Name the signal. Connect it to a goal. Choose an adaptation and evidence.</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136</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CASE LENS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Information Radiators Enable Collaboration | Case lens</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SIGNAL</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Watch for dashboards viewed but not discussed.</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RISK</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If hidden, the pattern distorts value, flow, quality, ownership, or learning.</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BETTER MOVE</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Pair every signal with an owner and decision cadence.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137</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1B2A"/>
          </a:solidFill>
          <a:ln>
            <a:solidFill>
              <a:srgbClr val="131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732520" y="640080"/>
            <a:ext cx="2423160" cy="2423160"/>
          </a:xfrm>
          <a:prstGeom prst="round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732520" y="676656"/>
            <a:ext cx="2423160" cy="2011680"/>
          </a:xfrm>
          <a:prstGeom prst="rect">
            <a:avLst/>
          </a:prstGeom>
          <a:noFill/>
        </p:spPr>
        <p:txBody>
          <a:bodyPr wrap="square" lIns="54864" rIns="54864" tIns="54864" bIns="54864" anchor="ctr">
            <a:spAutoFit/>
          </a:bodyPr>
          <a:lstStyle/>
          <a:p>
            <a:pPr algn="ctr"/>
            <a:r>
              <a:rPr sz="9200" b="1" i="0">
                <a:solidFill>
                  <a:srgbClr val="FFFFFF"/>
                </a:solidFill>
                <a:latin typeface="Arial"/>
              </a:rPr>
              <a:t>“</a:t>
            </a:r>
          </a:p>
        </p:txBody>
      </p:sp>
      <p:sp>
        <p:nvSpPr>
          <p:cNvPr id="5" name="TextBox 4"/>
          <p:cNvSpPr txBox="1"/>
          <p:nvPr/>
        </p:nvSpPr>
        <p:spPr>
          <a:xfrm>
            <a:off x="713232" y="566928"/>
            <a:ext cx="7223760" cy="320040"/>
          </a:xfrm>
          <a:prstGeom prst="rect">
            <a:avLst/>
          </a:prstGeom>
          <a:noFill/>
        </p:spPr>
        <p:txBody>
          <a:bodyPr wrap="square" lIns="54864" rIns="54864" tIns="54864" bIns="54864" anchor="t">
            <a:spAutoFit/>
          </a:bodyPr>
          <a:lstStyle/>
          <a:p>
            <a:pPr algn="l"/>
            <a:r>
              <a:rPr sz="1000" b="1" i="0">
                <a:solidFill>
                  <a:srgbClr val="B99AFF"/>
                </a:solidFill>
                <a:latin typeface="Arial"/>
              </a:rPr>
              <a:t>SCRUM MASTER PITCH</a:t>
            </a:r>
          </a:p>
        </p:txBody>
      </p:sp>
      <p:sp>
        <p:nvSpPr>
          <p:cNvPr id="6" name="TextBox 5"/>
          <p:cNvSpPr txBox="1"/>
          <p:nvPr/>
        </p:nvSpPr>
        <p:spPr>
          <a:xfrm>
            <a:off x="731520" y="1207008"/>
            <a:ext cx="7543800" cy="2743200"/>
          </a:xfrm>
          <a:prstGeom prst="rect">
            <a:avLst/>
          </a:prstGeom>
          <a:noFill/>
        </p:spPr>
        <p:txBody>
          <a:bodyPr wrap="square" lIns="54864" rIns="54864" tIns="54864" bIns="54864" anchor="ctr">
            <a:spAutoFit/>
          </a:bodyPr>
          <a:lstStyle/>
          <a:p>
            <a:pPr algn="l"/>
            <a:r>
              <a:rPr sz="3400" b="1" i="0">
                <a:solidFill>
                  <a:srgbClr val="FFFFFF"/>
                </a:solidFill>
                <a:latin typeface="Arial"/>
              </a:rPr>
              <a:t>A visible artifact is useful only when people can act on what it reveals.</a:t>
            </a:r>
          </a:p>
        </p:txBody>
      </p:sp>
      <p:sp>
        <p:nvSpPr>
          <p:cNvPr id="7" name="Rectangle 6"/>
          <p:cNvSpPr/>
          <p:nvPr/>
        </p:nvSpPr>
        <p:spPr>
          <a:xfrm>
            <a:off x="749808" y="4224528"/>
            <a:ext cx="7223760" cy="731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572000"/>
            <a:ext cx="9921240" cy="658368"/>
          </a:xfrm>
          <a:prstGeom prst="rect">
            <a:avLst/>
          </a:prstGeom>
          <a:noFill/>
        </p:spPr>
        <p:txBody>
          <a:bodyPr wrap="square" lIns="54864" rIns="54864" tIns="54864" bIns="54864" anchor="t">
            <a:spAutoFit/>
          </a:bodyPr>
          <a:lstStyle/>
          <a:p>
            <a:pPr algn="l"/>
            <a:r>
              <a:rPr sz="1700" b="0" i="0">
                <a:solidFill>
                  <a:srgbClr val="D7E0EA"/>
                </a:solidFill>
                <a:latin typeface="Arial"/>
              </a:rPr>
              <a:t>Use this as the Scrum Master coaching line, then prove it through: Pair every signal with an owner and decision cadence.</a:t>
            </a:r>
          </a:p>
        </p:txBody>
      </p:sp>
      <p:sp>
        <p:nvSpPr>
          <p:cNvPr id="9" name="TextBox 8"/>
          <p:cNvSpPr txBox="1"/>
          <p:nvPr/>
        </p:nvSpPr>
        <p:spPr>
          <a:xfrm>
            <a:off x="749808" y="5650992"/>
            <a:ext cx="9966960" cy="292608"/>
          </a:xfrm>
          <a:prstGeom prst="rect">
            <a:avLst/>
          </a:prstGeom>
          <a:noFill/>
        </p:spPr>
        <p:txBody>
          <a:bodyPr wrap="square" lIns="54864" rIns="54864" tIns="54864" bIns="54864" anchor="t">
            <a:spAutoFit/>
          </a:bodyPr>
          <a:lstStyle/>
          <a:p>
            <a:pPr algn="l"/>
            <a:r>
              <a:rPr sz="900" b="1" i="0">
                <a:solidFill>
                  <a:srgbClr val="B99AFF"/>
                </a:solidFill>
                <a:latin typeface="Arial"/>
              </a:rPr>
              <a:t>ORIGINAL COURSE MAXIM</a:t>
            </a:r>
          </a:p>
        </p:txBody>
      </p:sp>
      <p:sp>
        <p:nvSpPr>
          <p:cNvPr id="10" name="TextBox 9"/>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1" name="TextBox 10"/>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138</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09 | Order a Product Backlog with Customer Evidence</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 K2, K7, A1, A2, A3</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A food-delivery platform has forty candidate items from customers, operations, fraud, accessibility, and growth teams. Every stakeholder labels their request high priority, and hidden dependencies cause rework during Sprints.</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Product Owner, Scrum Master, Developers.</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ordered product backlog and evidence and dependency matrix.</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Connects order to Product Goal.</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instructions, tool steps, worksheets, mock data, and acceptance criteria are in the Learner Guide and individual activity folders.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139</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REAL-WORKPLACE PRACTICE</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400" b="1" i="0">
                <a:solidFill>
                  <a:srgbClr val="131B2A"/>
                </a:solidFill>
                <a:latin typeface="Arial"/>
              </a:rPr>
              <a:t>Activity 10 | Capstone Scrum Master Facilitation Plan</a:t>
            </a:r>
          </a:p>
        </p:txBody>
      </p:sp>
      <p:sp>
        <p:nvSpPr>
          <p:cNvPr id="5" name="Rounded Rectangle 4"/>
          <p:cNvSpPr/>
          <p:nvPr/>
        </p:nvSpPr>
        <p:spPr>
          <a:xfrm>
            <a:off x="658368" y="1664208"/>
            <a:ext cx="1508760" cy="438912"/>
          </a:xfrm>
          <a:prstGeom prst="round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728216"/>
            <a:ext cx="1508760" cy="310896"/>
          </a:xfrm>
          <a:prstGeom prst="rect">
            <a:avLst/>
          </a:prstGeom>
          <a:noFill/>
        </p:spPr>
        <p:txBody>
          <a:bodyPr wrap="square" lIns="54864" rIns="54864" tIns="54864" bIns="54864" anchor="t">
            <a:spAutoFit/>
          </a:bodyPr>
          <a:lstStyle/>
          <a:p>
            <a:pPr algn="ctr"/>
            <a:r>
              <a:rPr sz="1000" b="1" i="0">
                <a:solidFill>
                  <a:srgbClr val="FFFFFF"/>
                </a:solidFill>
                <a:latin typeface="Arial"/>
              </a:rPr>
              <a:t>K1-K7, A1-A7</a:t>
            </a:r>
          </a:p>
        </p:txBody>
      </p:sp>
      <p:sp>
        <p:nvSpPr>
          <p:cNvPr id="7" name="TextBox 6"/>
          <p:cNvSpPr txBox="1"/>
          <p:nvPr/>
        </p:nvSpPr>
        <p:spPr>
          <a:xfrm>
            <a:off x="685800" y="2304288"/>
            <a:ext cx="10789920" cy="960120"/>
          </a:xfrm>
          <a:prstGeom prst="rect">
            <a:avLst/>
          </a:prstGeom>
          <a:noFill/>
        </p:spPr>
        <p:txBody>
          <a:bodyPr wrap="square" lIns="54864" rIns="54864" tIns="54864" bIns="54864" anchor="t">
            <a:spAutoFit/>
          </a:bodyPr>
          <a:lstStyle/>
          <a:p>
            <a:pPr algn="l"/>
            <a:r>
              <a:rPr sz="1550" b="0" i="0">
                <a:solidFill>
                  <a:srgbClr val="131B2A"/>
                </a:solidFill>
                <a:latin typeface="Arial"/>
              </a:rPr>
              <a:t>Meridian Mobility is launching an accessible transport subscription in eight weeks. Its Scrum Team has unclear accountabilities, a long Daily Scrum, inconsistent Definition of Done, late stakeholder feedback, rising cycle time, and a Product Backlog driven by the loudest requester.</a:t>
            </a:r>
          </a:p>
        </p:txBody>
      </p:sp>
      <p:sp>
        <p:nvSpPr>
          <p:cNvPr id="8" name="Rounded Rectangle 7"/>
          <p:cNvSpPr/>
          <p:nvPr/>
        </p:nvSpPr>
        <p:spPr>
          <a:xfrm>
            <a:off x="68580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657600"/>
            <a:ext cx="3429000" cy="109728"/>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2971800" cy="365760"/>
          </a:xfrm>
          <a:prstGeom prst="rect">
            <a:avLst/>
          </a:prstGeom>
          <a:noFill/>
        </p:spPr>
        <p:txBody>
          <a:bodyPr wrap="square" lIns="54864" rIns="54864" tIns="54864" bIns="54864" anchor="t">
            <a:spAutoFit/>
          </a:bodyPr>
          <a:lstStyle/>
          <a:p>
            <a:pPr algn="l"/>
            <a:r>
              <a:rPr sz="1200" b="1" i="0">
                <a:solidFill>
                  <a:srgbClr val="1F6FEB"/>
                </a:solidFill>
                <a:latin typeface="Arial"/>
              </a:rPr>
              <a:t>ROLE PLAY</a:t>
            </a:r>
          </a:p>
        </p:txBody>
      </p:sp>
      <p:sp>
        <p:nvSpPr>
          <p:cNvPr id="11" name="TextBox 10"/>
          <p:cNvSpPr txBox="1"/>
          <p:nvPr/>
        </p:nvSpPr>
        <p:spPr>
          <a:xfrm>
            <a:off x="91440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Rehearse the decision with Scrum Master, Product Owner, Developers.</a:t>
            </a:r>
          </a:p>
        </p:txBody>
      </p:sp>
      <p:sp>
        <p:nvSpPr>
          <p:cNvPr id="12" name="Rounded Rectangle 11"/>
          <p:cNvSpPr/>
          <p:nvPr/>
        </p:nvSpPr>
        <p:spPr>
          <a:xfrm>
            <a:off x="438912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657600"/>
            <a:ext cx="3429000" cy="109728"/>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977640"/>
            <a:ext cx="2971800" cy="365760"/>
          </a:xfrm>
          <a:prstGeom prst="rect">
            <a:avLst/>
          </a:prstGeom>
          <a:noFill/>
        </p:spPr>
        <p:txBody>
          <a:bodyPr wrap="square" lIns="54864" rIns="54864" tIns="54864" bIns="54864" anchor="t">
            <a:spAutoFit/>
          </a:bodyPr>
          <a:lstStyle/>
          <a:p>
            <a:pPr algn="l"/>
            <a:r>
              <a:rPr sz="1200" b="1" i="0">
                <a:solidFill>
                  <a:srgbClr val="008C95"/>
                </a:solidFill>
                <a:latin typeface="Arial"/>
              </a:rPr>
              <a:t>EVIDENCE</a:t>
            </a:r>
          </a:p>
        </p:txBody>
      </p:sp>
      <p:sp>
        <p:nvSpPr>
          <p:cNvPr id="15" name="TextBox 14"/>
          <p:cNvSpPr txBox="1"/>
          <p:nvPr/>
        </p:nvSpPr>
        <p:spPr>
          <a:xfrm>
            <a:off x="461772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Produce scrum system diagnosis and 30-day facilitation plan.</a:t>
            </a:r>
          </a:p>
        </p:txBody>
      </p:sp>
      <p:sp>
        <p:nvSpPr>
          <p:cNvPr id="16" name="Rounded Rectangle 15"/>
          <p:cNvSpPr/>
          <p:nvPr/>
        </p:nvSpPr>
        <p:spPr>
          <a:xfrm>
            <a:off x="8092440" y="3657600"/>
            <a:ext cx="3429000" cy="178308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3657600"/>
            <a:ext cx="3429000" cy="109728"/>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3977640"/>
            <a:ext cx="2971800" cy="365760"/>
          </a:xfrm>
          <a:prstGeom prst="rect">
            <a:avLst/>
          </a:prstGeom>
          <a:noFill/>
        </p:spPr>
        <p:txBody>
          <a:bodyPr wrap="square" lIns="54864" rIns="54864" tIns="54864" bIns="54864" anchor="t">
            <a:spAutoFit/>
          </a:bodyPr>
          <a:lstStyle/>
          <a:p>
            <a:pPr algn="l"/>
            <a:r>
              <a:rPr sz="1200" b="1" i="0">
                <a:solidFill>
                  <a:srgbClr val="6F42C1"/>
                </a:solidFill>
                <a:latin typeface="Arial"/>
              </a:rPr>
              <a:t>QUALITY GATE</a:t>
            </a:r>
          </a:p>
        </p:txBody>
      </p:sp>
      <p:sp>
        <p:nvSpPr>
          <p:cNvPr id="19" name="TextBox 18"/>
          <p:cNvSpPr txBox="1"/>
          <p:nvPr/>
        </p:nvSpPr>
        <p:spPr>
          <a:xfrm>
            <a:off x="8321040" y="4453128"/>
            <a:ext cx="2971800" cy="749808"/>
          </a:xfrm>
          <a:prstGeom prst="rect">
            <a:avLst/>
          </a:prstGeom>
          <a:noFill/>
        </p:spPr>
        <p:txBody>
          <a:bodyPr wrap="square" lIns="54864" rIns="54864" tIns="54864" bIns="54864" anchor="t">
            <a:spAutoFit/>
          </a:bodyPr>
          <a:lstStyle/>
          <a:p>
            <a:pPr algn="l"/>
            <a:r>
              <a:rPr sz="1300" b="0" i="0">
                <a:solidFill>
                  <a:srgbClr val="131B2A"/>
                </a:solidFill>
                <a:latin typeface="Arial"/>
              </a:rPr>
              <a:t>Covers K1-K7 and A1-A7.</a:t>
            </a:r>
          </a:p>
        </p:txBody>
      </p:sp>
      <p:sp>
        <p:nvSpPr>
          <p:cNvPr id="20" name="TextBox 19"/>
          <p:cNvSpPr txBox="1"/>
          <p:nvPr/>
        </p:nvSpPr>
        <p:spPr>
          <a:xfrm>
            <a:off x="713232" y="5696712"/>
            <a:ext cx="10698480" cy="384048"/>
          </a:xfrm>
          <a:prstGeom prst="rect">
            <a:avLst/>
          </a:prstGeom>
          <a:noFill/>
        </p:spPr>
        <p:txBody>
          <a:bodyPr wrap="square" lIns="54864" rIns="54864" tIns="54864" bIns="54864" anchor="t">
            <a:spAutoFit/>
          </a:bodyPr>
          <a:lstStyle/>
          <a:p>
            <a:pPr algn="l"/>
            <a:r>
              <a:rPr sz="1000" b="1" i="0">
                <a:solidFill>
                  <a:srgbClr val="5C6677"/>
                </a:solidFill>
                <a:latin typeface="Arial"/>
              </a:rPr>
              <a:t>Full click-by-click instructions, tool steps, worksheets, mock data, and acceptance criteria are in the Learner Guide and individual activity folders.</a:t>
            </a:r>
          </a:p>
        </p:txBody>
      </p:sp>
      <p:sp>
        <p:nvSpPr>
          <p:cNvPr id="21" name="TextBox 20"/>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22" name="TextBox 21"/>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140</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67D58"/>
                </a:solidFill>
                <a:latin typeface="Arial"/>
              </a:rPr>
              <a:t>EVIDENCE CHECK</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Topic 5 | Evidence of competence</a:t>
            </a:r>
          </a:p>
        </p:txBody>
      </p:sp>
      <p:sp>
        <p:nvSpPr>
          <p:cNvPr id="5" name="Rounded Rectangle 4"/>
          <p:cNvSpPr/>
          <p:nvPr/>
        </p:nvSpPr>
        <p:spPr>
          <a:xfrm>
            <a:off x="713232" y="1920240"/>
            <a:ext cx="10771632" cy="3063240"/>
          </a:xfrm>
          <a:prstGeom prst="roundRect">
            <a:avLst/>
          </a:prstGeom>
          <a:solidFill>
            <a:srgbClr val="E8F7EE"/>
          </a:solidFill>
          <a:ln>
            <a:solidFill>
              <a:srgbClr val="B7E1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10012680" cy="457200"/>
          </a:xfrm>
          <a:prstGeom prst="rect">
            <a:avLst/>
          </a:prstGeom>
          <a:noFill/>
        </p:spPr>
        <p:txBody>
          <a:bodyPr wrap="square" lIns="54864" rIns="54864" tIns="54864" bIns="54864" anchor="t">
            <a:spAutoFit/>
          </a:bodyPr>
          <a:lstStyle/>
          <a:p>
            <a:pPr algn="l"/>
            <a:r>
              <a:rPr sz="1500" b="1" i="0">
                <a:solidFill>
                  <a:srgbClr val="167D58"/>
                </a:solidFill>
                <a:latin typeface="Arial"/>
              </a:rPr>
              <a:t>PROOF OF SHARED MEANING</a:t>
            </a:r>
          </a:p>
        </p:txBody>
      </p:sp>
      <p:sp>
        <p:nvSpPr>
          <p:cNvPr id="7" name="TextBox 6"/>
          <p:cNvSpPr txBox="1"/>
          <p:nvPr/>
        </p:nvSpPr>
        <p:spPr>
          <a:xfrm>
            <a:off x="1051560" y="2971800"/>
            <a:ext cx="10012680" cy="1325880"/>
          </a:xfrm>
          <a:prstGeom prst="rect">
            <a:avLst/>
          </a:prstGeom>
          <a:noFill/>
        </p:spPr>
        <p:txBody>
          <a:bodyPr wrap="square" lIns="54864" rIns="54864" tIns="54864" bIns="54864" anchor="ctr">
            <a:spAutoFit/>
          </a:bodyPr>
          <a:lstStyle/>
          <a:p>
            <a:pPr algn="l"/>
            <a:r>
              <a:rPr sz="2400" b="1" i="0">
                <a:solidFill>
                  <a:srgbClr val="131B2A"/>
                </a:solidFill>
                <a:latin typeface="Arial"/>
              </a:rPr>
              <a:t>A Scrum Master intervention is credible when it improves transparency, preserves accountability, enables adaptation, and produces evidence of effectiveness.</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141</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print-review-v6.png"/>
          <p:cNvPicPr>
            <a:picLocks noChangeAspect="1"/>
          </p:cNvPicPr>
          <p:nvPr/>
        </p:nvPicPr>
        <p:blipFill>
          <a:blip r:embed="rId2"/>
          <a:srcRect l="24186" r="24186"/>
          <a:stretch>
            <a:fillRect/>
          </a:stretch>
        </p:blipFill>
        <p:spPr>
          <a:xfrm>
            <a:off x="5897880" y="0"/>
            <a:ext cx="6291072" cy="6858000"/>
          </a:xfrm>
          <a:prstGeom prst="rect">
            <a:avLst/>
          </a:prstGeom>
        </p:spPr>
      </p:pic>
      <p:sp>
        <p:nvSpPr>
          <p:cNvPr id="4" name="Rectangle 3"/>
          <p:cNvSpPr/>
          <p:nvPr/>
        </p:nvSpPr>
        <p:spPr>
          <a:xfrm>
            <a:off x="5303520" y="0"/>
            <a:ext cx="2011680"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58368"/>
            <a:ext cx="4480560" cy="365760"/>
          </a:xfrm>
          <a:prstGeom prst="rect">
            <a:avLst/>
          </a:prstGeom>
          <a:noFill/>
        </p:spPr>
        <p:txBody>
          <a:bodyPr wrap="square" lIns="54864" rIns="54864" tIns="54864" bIns="54864" anchor="t">
            <a:spAutoFit/>
          </a:bodyPr>
          <a:lstStyle/>
          <a:p>
            <a:pPr algn="l"/>
            <a:r>
              <a:rPr sz="1100" b="1" i="0">
                <a:solidFill>
                  <a:srgbClr val="6DDAD7"/>
                </a:solidFill>
                <a:latin typeface="Arial"/>
              </a:rPr>
              <a:t>SECTION 99</a:t>
            </a:r>
          </a:p>
        </p:txBody>
      </p:sp>
      <p:sp>
        <p:nvSpPr>
          <p:cNvPr id="6" name="TextBox 5"/>
          <p:cNvSpPr txBox="1"/>
          <p:nvPr/>
        </p:nvSpPr>
        <p:spPr>
          <a:xfrm>
            <a:off x="658368" y="1325880"/>
            <a:ext cx="5166360" cy="1965960"/>
          </a:xfrm>
          <a:prstGeom prst="rect">
            <a:avLst/>
          </a:prstGeom>
          <a:noFill/>
        </p:spPr>
        <p:txBody>
          <a:bodyPr wrap="square" lIns="54864" rIns="54864" tIns="54864" bIns="54864" anchor="t">
            <a:spAutoFit/>
          </a:bodyPr>
          <a:lstStyle/>
          <a:p>
            <a:pPr algn="l"/>
            <a:r>
              <a:rPr sz="3600" b="1" i="0">
                <a:solidFill>
                  <a:srgbClr val="FFFFFF"/>
                </a:solidFill>
                <a:latin typeface="Arial"/>
              </a:rPr>
              <a:t>Integration</a:t>
            </a:r>
          </a:p>
        </p:txBody>
      </p:sp>
      <p:sp>
        <p:nvSpPr>
          <p:cNvPr id="7" name="TextBox 6"/>
          <p:cNvSpPr txBox="1"/>
          <p:nvPr/>
        </p:nvSpPr>
        <p:spPr>
          <a:xfrm>
            <a:off x="685800" y="3675887"/>
            <a:ext cx="4937760" cy="960120"/>
          </a:xfrm>
          <a:prstGeom prst="rect">
            <a:avLst/>
          </a:prstGeom>
          <a:noFill/>
        </p:spPr>
        <p:txBody>
          <a:bodyPr wrap="square" lIns="54864" rIns="54864" tIns="54864" bIns="54864" anchor="t">
            <a:spAutoFit/>
          </a:bodyPr>
          <a:lstStyle/>
          <a:p>
            <a:pPr algn="l"/>
            <a:r>
              <a:rPr sz="1700" b="0" i="0">
                <a:solidFill>
                  <a:srgbClr val="D7E0EA"/>
                </a:solidFill>
                <a:latin typeface="Arial"/>
              </a:rPr>
              <a:t>From isolated practices to an effective Scrum system</a:t>
            </a:r>
          </a:p>
        </p:txBody>
      </p:sp>
      <p:sp>
        <p:nvSpPr>
          <p:cNvPr id="8" name="TextBox 7"/>
          <p:cNvSpPr txBox="1"/>
          <p:nvPr/>
        </p:nvSpPr>
        <p:spPr>
          <a:xfrm>
            <a:off x="685800" y="5175504"/>
            <a:ext cx="4983480" cy="640080"/>
          </a:xfrm>
          <a:prstGeom prst="rect">
            <a:avLst/>
          </a:prstGeom>
          <a:noFill/>
        </p:spPr>
        <p:txBody>
          <a:bodyPr wrap="square" lIns="54864" rIns="54864" tIns="54864" bIns="54864" anchor="t">
            <a:spAutoFit/>
          </a:bodyPr>
          <a:lstStyle/>
          <a:p>
            <a:pPr algn="l"/>
            <a:r>
              <a:rPr sz="1500" b="1" i="1">
                <a:solidFill>
                  <a:srgbClr val="6DDAD7"/>
                </a:solidFill>
                <a:latin typeface="Arial"/>
              </a:rPr>
              <a:t>Make value, flow, quality, and learning visible—then help the team adapt.</a:t>
            </a:r>
          </a:p>
        </p:txBody>
      </p:sp>
      <p:sp>
        <p:nvSpPr>
          <p:cNvPr id="9" name="TextBox 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10" name="TextBox 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142</a:t>
            </a:r>
          </a:p>
        </p:txBody>
      </p:sp>
    </p:spTree>
  </p:cSld>
  <p:clrMapOvr>
    <a:masterClrMapping/>
  </p:clrMapOvr>
  <p:transition spd="med" advClick="1">
    <p:push/>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ONE SYSTEM | EVERY SPRINT</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The Scrum Master Effectiveness Loop</a:t>
            </a:r>
          </a:p>
        </p:txBody>
      </p:sp>
      <p:sp>
        <p:nvSpPr>
          <p:cNvPr id="5" name="Rounded Rectangle 4"/>
          <p:cNvSpPr/>
          <p:nvPr/>
        </p:nvSpPr>
        <p:spPr>
          <a:xfrm>
            <a:off x="621792"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Purpose</a:t>
            </a:r>
          </a:p>
        </p:txBody>
      </p:sp>
      <p:cxnSp>
        <p:nvCxnSpPr>
          <p:cNvPr id="9" name="Connector 8"/>
          <p:cNvCxnSpPr/>
          <p:nvPr/>
        </p:nvCxnSpPr>
        <p:spPr>
          <a:xfrm>
            <a:off x="2252472"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490216"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54808"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548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2746248"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Transparency</a:t>
            </a:r>
          </a:p>
        </p:txBody>
      </p:sp>
      <p:cxnSp>
        <p:nvCxnSpPr>
          <p:cNvPr id="14" name="Connector 13"/>
          <p:cNvCxnSpPr/>
          <p:nvPr/>
        </p:nvCxnSpPr>
        <p:spPr>
          <a:xfrm>
            <a:off x="4120896"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58640"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23232"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323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4614672"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Inspection</a:t>
            </a:r>
          </a:p>
        </p:txBody>
      </p:sp>
      <p:cxnSp>
        <p:nvCxnSpPr>
          <p:cNvPr id="19" name="Connector 18"/>
          <p:cNvCxnSpPr/>
          <p:nvPr/>
        </p:nvCxnSpPr>
        <p:spPr>
          <a:xfrm>
            <a:off x="5989320"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165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6483096"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Coaching</a:t>
            </a:r>
          </a:p>
        </p:txBody>
      </p:sp>
      <p:cxnSp>
        <p:nvCxnSpPr>
          <p:cNvPr id="24" name="Connector 23"/>
          <p:cNvCxnSpPr/>
          <p:nvPr/>
        </p:nvCxnSpPr>
        <p:spPr>
          <a:xfrm>
            <a:off x="7857744"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095488"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60080"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008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8351520"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Adaptation</a:t>
            </a:r>
          </a:p>
        </p:txBody>
      </p:sp>
      <p:cxnSp>
        <p:nvCxnSpPr>
          <p:cNvPr id="29" name="Connector 28"/>
          <p:cNvCxnSpPr/>
          <p:nvPr/>
        </p:nvCxnSpPr>
        <p:spPr>
          <a:xfrm>
            <a:off x="9726168"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963912" y="2240280"/>
            <a:ext cx="1630680"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128504"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2850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6</a:t>
            </a:r>
          </a:p>
        </p:txBody>
      </p:sp>
      <p:sp>
        <p:nvSpPr>
          <p:cNvPr id="33" name="TextBox 32"/>
          <p:cNvSpPr txBox="1"/>
          <p:nvPr/>
        </p:nvSpPr>
        <p:spPr>
          <a:xfrm>
            <a:off x="10219944" y="3044952"/>
            <a:ext cx="1118616" cy="914400"/>
          </a:xfrm>
          <a:prstGeom prst="rect">
            <a:avLst/>
          </a:prstGeom>
          <a:noFill/>
        </p:spPr>
        <p:txBody>
          <a:bodyPr wrap="square" lIns="54864" rIns="54864" tIns="54864" bIns="54864" anchor="ctr">
            <a:spAutoFit/>
          </a:bodyPr>
          <a:lstStyle/>
          <a:p>
            <a:pPr algn="ctr"/>
            <a:r>
              <a:rPr sz="1400" b="1" i="0">
                <a:solidFill>
                  <a:srgbClr val="131B2A"/>
                </a:solidFill>
                <a:latin typeface="Arial"/>
              </a:rPr>
              <a:t>Evidence</a:t>
            </a:r>
          </a:p>
        </p:txBody>
      </p:sp>
      <p:sp>
        <p:nvSpPr>
          <p:cNvPr id="34" name="TextBox 33"/>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5" name="TextBox 34"/>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143</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COURSE SUMMARY</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What You Achieved</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IMPLEMENT</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Use Agile Scrum practices to analyse requirements.</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ENABLE</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Clarify accountabilities and coach self-management.</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FACILITATE</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Make Scrum events purposeful and evidence-led.</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IMPROVE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Use artifacts and measures to collaborate and adapt.</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144</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0698480" cy="320040"/>
          </a:xfrm>
          <a:prstGeom prst="rect">
            <a:avLst/>
          </a:prstGeom>
          <a:noFill/>
        </p:spPr>
        <p:txBody>
          <a:bodyPr wrap="square" lIns="54864" rIns="54864" tIns="54864" bIns="54864" anchor="t">
            <a:spAutoFit/>
          </a:bodyPr>
          <a:lstStyle/>
          <a:p>
            <a:pPr algn="l"/>
            <a:r>
              <a:rPr sz="1000" b="1" i="0">
                <a:solidFill>
                  <a:srgbClr val="6DDAD7"/>
                </a:solidFill>
                <a:latin typeface="Arial"/>
              </a:rPr>
              <a:t>FINAL PITCH</a:t>
            </a:r>
          </a:p>
        </p:txBody>
      </p:sp>
      <p:sp>
        <p:nvSpPr>
          <p:cNvPr id="4" name="TextBox 3"/>
          <p:cNvSpPr txBox="1"/>
          <p:nvPr/>
        </p:nvSpPr>
        <p:spPr>
          <a:xfrm>
            <a:off x="731520" y="1234440"/>
            <a:ext cx="10607040" cy="2331720"/>
          </a:xfrm>
          <a:prstGeom prst="rect">
            <a:avLst/>
          </a:prstGeom>
          <a:noFill/>
        </p:spPr>
        <p:txBody>
          <a:bodyPr wrap="square" lIns="54864" rIns="54864" tIns="54864" bIns="54864" anchor="ctr">
            <a:spAutoFit/>
          </a:bodyPr>
          <a:lstStyle/>
          <a:p>
            <a:pPr algn="l"/>
            <a:r>
              <a:rPr sz="3600" b="1" i="0">
                <a:solidFill>
                  <a:srgbClr val="FFFFFF"/>
                </a:solidFill>
                <a:latin typeface="Arial"/>
              </a:rPr>
              <a:t>“The Scrum Master does not make the team effective for them.”</a:t>
            </a:r>
          </a:p>
        </p:txBody>
      </p:sp>
      <p:sp>
        <p:nvSpPr>
          <p:cNvPr id="5" name="Rectangle 4"/>
          <p:cNvSpPr/>
          <p:nvPr/>
        </p:nvSpPr>
        <p:spPr>
          <a:xfrm>
            <a:off x="749808" y="4069080"/>
            <a:ext cx="1188720" cy="731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4407408"/>
            <a:ext cx="9921240" cy="749808"/>
          </a:xfrm>
          <a:prstGeom prst="rect">
            <a:avLst/>
          </a:prstGeom>
          <a:noFill/>
        </p:spPr>
        <p:txBody>
          <a:bodyPr wrap="square" lIns="54864" rIns="54864" tIns="54864" bIns="54864" anchor="t">
            <a:spAutoFit/>
          </a:bodyPr>
          <a:lstStyle/>
          <a:p>
            <a:pPr algn="l"/>
            <a:r>
              <a:rPr sz="1700" b="0" i="0">
                <a:solidFill>
                  <a:srgbClr val="D7E0EA"/>
                </a:solidFill>
                <a:latin typeface="Arial"/>
              </a:rPr>
              <a:t>Create the conditions in which the team can see, decide, learn, and improve.</a:t>
            </a:r>
          </a:p>
        </p:txBody>
      </p:sp>
      <p:sp>
        <p:nvSpPr>
          <p:cNvPr id="7" name="TextBox 6"/>
          <p:cNvSpPr txBox="1"/>
          <p:nvPr/>
        </p:nvSpPr>
        <p:spPr>
          <a:xfrm>
            <a:off x="749808" y="5596128"/>
            <a:ext cx="9966960" cy="292608"/>
          </a:xfrm>
          <a:prstGeom prst="rect">
            <a:avLst/>
          </a:prstGeom>
          <a:noFill/>
        </p:spPr>
        <p:txBody>
          <a:bodyPr wrap="square" lIns="54864" rIns="54864" tIns="54864" bIns="54864" anchor="t">
            <a:spAutoFit/>
          </a:bodyPr>
          <a:lstStyle/>
          <a:p>
            <a:pPr algn="l"/>
            <a:r>
              <a:rPr sz="900" b="1" i="0">
                <a:solidFill>
                  <a:srgbClr val="6DDAD7"/>
                </a:solidFill>
                <a:latin typeface="Arial"/>
              </a:rPr>
              <a:t>ORIGINAL COURSE MAXIM</a:t>
            </a:r>
          </a:p>
        </p:txBody>
      </p:sp>
      <p:sp>
        <p:nvSpPr>
          <p:cNvPr id="8" name="TextBox 7"/>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9" name="TextBox 8"/>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145</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LEARNER PORTAL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Courseware and Assessment on the LMS</a:t>
            </a:r>
          </a:p>
        </p:txBody>
      </p:sp>
      <p:sp>
        <p:nvSpPr>
          <p:cNvPr id="5" name="Oval 4"/>
          <p:cNvSpPr/>
          <p:nvPr/>
        </p:nvSpPr>
        <p:spPr>
          <a:xfrm>
            <a:off x="685800" y="1572768"/>
            <a:ext cx="402336" cy="402336"/>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91056"/>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7" name="TextBox 6"/>
          <p:cNvSpPr txBox="1"/>
          <p:nvPr/>
        </p:nvSpPr>
        <p:spPr>
          <a:xfrm>
            <a:off x="1298448" y="1554480"/>
            <a:ext cx="9966960" cy="530352"/>
          </a:xfrm>
          <a:prstGeom prst="rect">
            <a:avLst/>
          </a:prstGeom>
          <a:noFill/>
        </p:spPr>
        <p:txBody>
          <a:bodyPr wrap="square" lIns="54864" rIns="54864" tIns="54864" bIns="54864" anchor="t">
            <a:spAutoFit/>
          </a:bodyPr>
          <a:lstStyle/>
          <a:p>
            <a:pPr algn="l"/>
            <a:r>
              <a:rPr sz="1700" b="1" i="0">
                <a:solidFill>
                  <a:srgbClr val="131B2A"/>
                </a:solidFill>
                <a:latin typeface="Arial"/>
              </a:rPr>
              <a:t>Download learner slides, Learner Guide, and activity packs</a:t>
            </a:r>
          </a:p>
        </p:txBody>
      </p:sp>
      <p:sp>
        <p:nvSpPr>
          <p:cNvPr id="8" name="Oval 7"/>
          <p:cNvSpPr/>
          <p:nvPr/>
        </p:nvSpPr>
        <p:spPr>
          <a:xfrm>
            <a:off x="685800" y="2560320"/>
            <a:ext cx="402336" cy="402336"/>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578608"/>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0" name="TextBox 9"/>
          <p:cNvSpPr txBox="1"/>
          <p:nvPr/>
        </p:nvSpPr>
        <p:spPr>
          <a:xfrm>
            <a:off x="1298448" y="2542032"/>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Use the browser-based Scrum tool during activities</a:t>
            </a:r>
          </a:p>
        </p:txBody>
      </p:sp>
      <p:sp>
        <p:nvSpPr>
          <p:cNvPr id="11" name="Oval 10"/>
          <p:cNvSpPr/>
          <p:nvPr/>
        </p:nvSpPr>
        <p:spPr>
          <a:xfrm>
            <a:off x="685800" y="3547872"/>
            <a:ext cx="402336" cy="402336"/>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566160"/>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13" name="TextBox 12"/>
          <p:cNvSpPr txBox="1"/>
          <p:nvPr/>
        </p:nvSpPr>
        <p:spPr>
          <a:xfrm>
            <a:off x="1298448" y="3529584"/>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Complete the WA and Case Study using approved materials</a:t>
            </a:r>
          </a:p>
        </p:txBody>
      </p:sp>
      <p:sp>
        <p:nvSpPr>
          <p:cNvPr id="14" name="Oval 13"/>
          <p:cNvSpPr/>
          <p:nvPr/>
        </p:nvSpPr>
        <p:spPr>
          <a:xfrm>
            <a:off x="685800" y="4535424"/>
            <a:ext cx="402336" cy="402336"/>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553712"/>
            <a:ext cx="402336"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16" name="TextBox 15"/>
          <p:cNvSpPr txBox="1"/>
          <p:nvPr/>
        </p:nvSpPr>
        <p:spPr>
          <a:xfrm>
            <a:off x="1298448" y="4517136"/>
            <a:ext cx="9966960" cy="530352"/>
          </a:xfrm>
          <a:prstGeom prst="rect">
            <a:avLst/>
          </a:prstGeom>
          <a:noFill/>
        </p:spPr>
        <p:txBody>
          <a:bodyPr wrap="square" lIns="54864" rIns="54864" tIns="54864" bIns="54864" anchor="t">
            <a:spAutoFit/>
          </a:bodyPr>
          <a:lstStyle/>
          <a:p>
            <a:pPr algn="l"/>
            <a:r>
              <a:rPr sz="1700" b="0" i="0">
                <a:solidFill>
                  <a:srgbClr val="131B2A"/>
                </a:solidFill>
                <a:latin typeface="Arial"/>
              </a:rPr>
              <a:t>https://lms-tms.tertiaryinfotech.com/</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146</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6F42C1"/>
                </a:solidFill>
                <a:latin typeface="Arial"/>
              </a:rPr>
              <a:t>FINAL REMINDER</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a:t>
            </a:r>
          </a:p>
        </p:txBody>
      </p:sp>
      <p:sp>
        <p:nvSpPr>
          <p:cNvPr id="5" name="Rounded Rectangle 4"/>
          <p:cNvSpPr/>
          <p:nvPr/>
        </p:nvSpPr>
        <p:spPr>
          <a:xfrm>
            <a:off x="65836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600200"/>
            <a:ext cx="3429000" cy="146304"/>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47672"/>
            <a:ext cx="2926080" cy="502920"/>
          </a:xfrm>
          <a:prstGeom prst="rect">
            <a:avLst/>
          </a:prstGeom>
          <a:noFill/>
        </p:spPr>
        <p:txBody>
          <a:bodyPr wrap="square" lIns="54864" rIns="54864" tIns="54864" bIns="54864" anchor="t">
            <a:spAutoFit/>
          </a:bodyPr>
          <a:lstStyle/>
          <a:p>
            <a:pPr algn="l"/>
            <a:r>
              <a:rPr sz="1300" b="1" i="0">
                <a:solidFill>
                  <a:srgbClr val="1F6FEB"/>
                </a:solidFill>
                <a:latin typeface="Arial"/>
              </a:rPr>
              <a:t>WA | 1 HOUR</a:t>
            </a:r>
          </a:p>
        </p:txBody>
      </p:sp>
      <p:sp>
        <p:nvSpPr>
          <p:cNvPr id="8" name="TextBox 7"/>
          <p:cNvSpPr txBox="1"/>
          <p:nvPr/>
        </p:nvSpPr>
        <p:spPr>
          <a:xfrm>
            <a:off x="91440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Seven open-ended knowledge questions K1-K7.</a:t>
            </a:r>
          </a:p>
        </p:txBody>
      </p:sp>
      <p:sp>
        <p:nvSpPr>
          <p:cNvPr id="9" name="Rounded Rectangle 8"/>
          <p:cNvSpPr/>
          <p:nvPr/>
        </p:nvSpPr>
        <p:spPr>
          <a:xfrm>
            <a:off x="436168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600200"/>
            <a:ext cx="3429000" cy="146304"/>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47672"/>
            <a:ext cx="2926080" cy="502920"/>
          </a:xfrm>
          <a:prstGeom prst="rect">
            <a:avLst/>
          </a:prstGeom>
          <a:noFill/>
        </p:spPr>
        <p:txBody>
          <a:bodyPr wrap="square" lIns="54864" rIns="54864" tIns="54864" bIns="54864" anchor="t">
            <a:spAutoFit/>
          </a:bodyPr>
          <a:lstStyle/>
          <a:p>
            <a:pPr algn="l"/>
            <a:r>
              <a:rPr sz="1300" b="1" i="0">
                <a:solidFill>
                  <a:srgbClr val="6F42C1"/>
                </a:solidFill>
                <a:latin typeface="Arial"/>
              </a:rPr>
              <a:t>CASE STUDY | 1 HOUR</a:t>
            </a:r>
          </a:p>
        </p:txBody>
      </p:sp>
      <p:sp>
        <p:nvSpPr>
          <p:cNvPr id="12" name="TextBox 11"/>
          <p:cNvSpPr txBox="1"/>
          <p:nvPr/>
        </p:nvSpPr>
        <p:spPr>
          <a:xfrm>
            <a:off x="461772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Five integrated questions covering A1-A7.</a:t>
            </a:r>
          </a:p>
        </p:txBody>
      </p:sp>
      <p:sp>
        <p:nvSpPr>
          <p:cNvPr id="13" name="Rounded Rectangle 12"/>
          <p:cNvSpPr/>
          <p:nvPr/>
        </p:nvSpPr>
        <p:spPr>
          <a:xfrm>
            <a:off x="8065008" y="1600200"/>
            <a:ext cx="3429000" cy="425196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5008" y="1600200"/>
            <a:ext cx="3429000" cy="146304"/>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1947672"/>
            <a:ext cx="2926080" cy="502920"/>
          </a:xfrm>
          <a:prstGeom prst="rect">
            <a:avLst/>
          </a:prstGeom>
          <a:noFill/>
        </p:spPr>
        <p:txBody>
          <a:bodyPr wrap="square" lIns="54864" rIns="54864" tIns="54864" bIns="54864" anchor="t">
            <a:spAutoFit/>
          </a:bodyPr>
          <a:lstStyle/>
          <a:p>
            <a:pPr algn="l"/>
            <a:r>
              <a:rPr sz="1300" b="1" i="0">
                <a:solidFill>
                  <a:srgbClr val="008C95"/>
                </a:solidFill>
                <a:latin typeface="Arial"/>
              </a:rPr>
              <a:t>SUBMIT</a:t>
            </a:r>
          </a:p>
        </p:txBody>
      </p:sp>
      <p:sp>
        <p:nvSpPr>
          <p:cNvPr id="16" name="TextBox 15"/>
          <p:cNvSpPr txBox="1"/>
          <p:nvPr/>
        </p:nvSpPr>
        <p:spPr>
          <a:xfrm>
            <a:off x="8321040" y="2651760"/>
            <a:ext cx="2926080" cy="2697480"/>
          </a:xfrm>
          <a:prstGeom prst="rect">
            <a:avLst/>
          </a:prstGeom>
          <a:noFill/>
        </p:spPr>
        <p:txBody>
          <a:bodyPr wrap="square" lIns="54864" rIns="54864" tIns="54864" bIns="54864" anchor="ctr">
            <a:spAutoFit/>
          </a:bodyPr>
          <a:lstStyle/>
          <a:p>
            <a:pPr algn="l"/>
            <a:r>
              <a:rPr sz="1600" b="0" i="0">
                <a:solidFill>
                  <a:srgbClr val="131B2A"/>
                </a:solidFill>
                <a:latin typeface="Arial"/>
              </a:rPr>
              <a:t>Assessment attendance, LMS upload, and summary-record signature.</a:t>
            </a:r>
          </a:p>
        </p:txBody>
      </p:sp>
      <p:sp>
        <p:nvSpPr>
          <p:cNvPr id="17" name="TextBox 16"/>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8" name="TextBox 17"/>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147</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B42318"/>
                </a:solidFill>
                <a:latin typeface="Arial"/>
              </a:rPr>
              <a:t>FINAL ASSESSMENT PROCESS</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Assessment Flow</a:t>
            </a:r>
          </a:p>
        </p:txBody>
      </p:sp>
      <p:sp>
        <p:nvSpPr>
          <p:cNvPr id="5" name="Rounded Rectangle 4"/>
          <p:cNvSpPr/>
          <p:nvPr/>
        </p:nvSpPr>
        <p:spPr>
          <a:xfrm>
            <a:off x="621792"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86384"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1</a:t>
            </a:r>
          </a:p>
        </p:txBody>
      </p:sp>
      <p:sp>
        <p:nvSpPr>
          <p:cNvPr id="8" name="TextBox 7"/>
          <p:cNvSpPr txBox="1"/>
          <p:nvPr/>
        </p:nvSpPr>
        <p:spPr>
          <a:xfrm>
            <a:off x="877824"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TRAQOM</a:t>
            </a:r>
          </a:p>
        </p:txBody>
      </p:sp>
      <p:cxnSp>
        <p:nvCxnSpPr>
          <p:cNvPr id="9" name="Connector 8"/>
          <p:cNvCxnSpPr/>
          <p:nvPr/>
        </p:nvCxnSpPr>
        <p:spPr>
          <a:xfrm>
            <a:off x="2626156" y="3268980"/>
            <a:ext cx="237744" cy="0"/>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63900"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28492" y="2441448"/>
            <a:ext cx="411480" cy="411480"/>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8492"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2</a:t>
            </a:r>
          </a:p>
        </p:txBody>
      </p:sp>
      <p:sp>
        <p:nvSpPr>
          <p:cNvPr id="13" name="TextBox 12"/>
          <p:cNvSpPr txBox="1"/>
          <p:nvPr/>
        </p:nvSpPr>
        <p:spPr>
          <a:xfrm>
            <a:off x="3119932"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Assessment attendance</a:t>
            </a:r>
          </a:p>
        </p:txBody>
      </p:sp>
      <p:cxnSp>
        <p:nvCxnSpPr>
          <p:cNvPr id="14" name="Connector 13"/>
          <p:cNvCxnSpPr/>
          <p:nvPr/>
        </p:nvCxnSpPr>
        <p:spPr>
          <a:xfrm>
            <a:off x="4868264" y="3268980"/>
            <a:ext cx="237744" cy="0"/>
          </a:xfrm>
          <a:prstGeom prst="line">
            <a:avLst/>
          </a:prstGeom>
          <a:ln w="25400">
            <a:solidFill>
              <a:srgbClr val="008C9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06008"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70600" y="2441448"/>
            <a:ext cx="411480" cy="411480"/>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0600"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3</a:t>
            </a:r>
          </a:p>
        </p:txBody>
      </p:sp>
      <p:sp>
        <p:nvSpPr>
          <p:cNvPr id="18" name="TextBox 17"/>
          <p:cNvSpPr txBox="1"/>
          <p:nvPr/>
        </p:nvSpPr>
        <p:spPr>
          <a:xfrm>
            <a:off x="5362040"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WA then CS</a:t>
            </a:r>
          </a:p>
        </p:txBody>
      </p:sp>
      <p:cxnSp>
        <p:nvCxnSpPr>
          <p:cNvPr id="19" name="Connector 18"/>
          <p:cNvCxnSpPr/>
          <p:nvPr/>
        </p:nvCxnSpPr>
        <p:spPr>
          <a:xfrm>
            <a:off x="7110372" y="3268980"/>
            <a:ext cx="237744" cy="0"/>
          </a:xfrm>
          <a:prstGeom prst="line">
            <a:avLst/>
          </a:prstGeom>
          <a:ln w="25400">
            <a:solidFill>
              <a:srgbClr val="6F42C1"/>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8116"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12708" y="2441448"/>
            <a:ext cx="411480" cy="411480"/>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12708"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4</a:t>
            </a:r>
          </a:p>
        </p:txBody>
      </p:sp>
      <p:sp>
        <p:nvSpPr>
          <p:cNvPr id="23" name="TextBox 22"/>
          <p:cNvSpPr txBox="1"/>
          <p:nvPr/>
        </p:nvSpPr>
        <p:spPr>
          <a:xfrm>
            <a:off x="7604148"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Submit on LMS</a:t>
            </a:r>
          </a:p>
        </p:txBody>
      </p:sp>
      <p:cxnSp>
        <p:nvCxnSpPr>
          <p:cNvPr id="24" name="Connector 23"/>
          <p:cNvCxnSpPr/>
          <p:nvPr/>
        </p:nvCxnSpPr>
        <p:spPr>
          <a:xfrm>
            <a:off x="9352480" y="3268980"/>
            <a:ext cx="237744" cy="0"/>
          </a:xfrm>
          <a:prstGeom prst="line">
            <a:avLst/>
          </a:prstGeom>
          <a:ln w="25400">
            <a:solidFill>
              <a:srgbClr val="E6830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90224" y="2240280"/>
            <a:ext cx="2004364" cy="2057400"/>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54816" y="2441448"/>
            <a:ext cx="411480" cy="411480"/>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54816" y="2459736"/>
            <a:ext cx="411480" cy="310896"/>
          </a:xfrm>
          <a:prstGeom prst="rect">
            <a:avLst/>
          </a:prstGeom>
          <a:noFill/>
        </p:spPr>
        <p:txBody>
          <a:bodyPr wrap="square" lIns="54864" rIns="54864" tIns="54864" bIns="54864" anchor="ctr">
            <a:spAutoFit/>
          </a:bodyPr>
          <a:lstStyle/>
          <a:p>
            <a:pPr algn="ctr"/>
            <a:r>
              <a:rPr sz="1100" b="1" i="0">
                <a:solidFill>
                  <a:srgbClr val="FFFFFF"/>
                </a:solidFill>
                <a:latin typeface="Arial"/>
              </a:rPr>
              <a:t>5</a:t>
            </a:r>
          </a:p>
        </p:txBody>
      </p:sp>
      <p:sp>
        <p:nvSpPr>
          <p:cNvPr id="28" name="TextBox 27"/>
          <p:cNvSpPr txBox="1"/>
          <p:nvPr/>
        </p:nvSpPr>
        <p:spPr>
          <a:xfrm>
            <a:off x="9846256" y="3044952"/>
            <a:ext cx="1492300" cy="914400"/>
          </a:xfrm>
          <a:prstGeom prst="rect">
            <a:avLst/>
          </a:prstGeom>
          <a:noFill/>
        </p:spPr>
        <p:txBody>
          <a:bodyPr wrap="square" lIns="54864" rIns="54864" tIns="54864" bIns="54864" anchor="ctr">
            <a:spAutoFit/>
          </a:bodyPr>
          <a:lstStyle/>
          <a:p>
            <a:pPr algn="ctr"/>
            <a:r>
              <a:rPr sz="1400" b="1" i="0">
                <a:solidFill>
                  <a:srgbClr val="131B2A"/>
                </a:solidFill>
                <a:latin typeface="Arial"/>
              </a:rPr>
              <a:t>Sign summary record</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148</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008C95"/>
                </a:solidFill>
                <a:latin typeface="Arial"/>
              </a:rPr>
              <a:t>TRAQOM · SSG</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Digital Attendance | Mandatory</a:t>
            </a:r>
          </a:p>
        </p:txBody>
      </p:sp>
      <p:sp>
        <p:nvSpPr>
          <p:cNvPr id="5" name="Rounded Rectangle 4"/>
          <p:cNvSpPr/>
          <p:nvPr/>
        </p:nvSpPr>
        <p:spPr>
          <a:xfrm>
            <a:off x="658368"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572768"/>
            <a:ext cx="91440" cy="1901952"/>
          </a:xfrm>
          <a:prstGeom prst="rect">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828800"/>
            <a:ext cx="438912" cy="438912"/>
          </a:xfrm>
          <a:prstGeom prst="ellipse">
            <a:avLst/>
          </a:prstGeom>
          <a:solidFill>
            <a:srgbClr val="1F6FEB"/>
          </a:solidFill>
          <a:ln>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1</a:t>
            </a:r>
          </a:p>
        </p:txBody>
      </p:sp>
      <p:sp>
        <p:nvSpPr>
          <p:cNvPr id="9" name="TextBox 8"/>
          <p:cNvSpPr txBox="1"/>
          <p:nvPr/>
        </p:nvSpPr>
        <p:spPr>
          <a:xfrm>
            <a:off x="1527048"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AM</a:t>
            </a:r>
          </a:p>
        </p:txBody>
      </p:sp>
      <p:sp>
        <p:nvSpPr>
          <p:cNvPr id="10" name="TextBox 9"/>
          <p:cNvSpPr txBox="1"/>
          <p:nvPr/>
        </p:nvSpPr>
        <p:spPr>
          <a:xfrm>
            <a:off x="1527048"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Morning attendance recorded.</a:t>
            </a:r>
          </a:p>
        </p:txBody>
      </p:sp>
      <p:sp>
        <p:nvSpPr>
          <p:cNvPr id="11" name="Rounded Rectangle 10"/>
          <p:cNvSpPr/>
          <p:nvPr/>
        </p:nvSpPr>
        <p:spPr>
          <a:xfrm>
            <a:off x="6217920" y="1572768"/>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572768"/>
            <a:ext cx="91440" cy="1901952"/>
          </a:xfrm>
          <a:prstGeom prst="rect">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73952" y="1828800"/>
            <a:ext cx="438912" cy="438912"/>
          </a:xfrm>
          <a:prstGeom prst="ellipse">
            <a:avLst/>
          </a:prstGeom>
          <a:solidFill>
            <a:srgbClr val="008C95"/>
          </a:solidFill>
          <a:ln>
            <a:solidFill>
              <a:srgbClr val="008C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847088"/>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2</a:t>
            </a:r>
          </a:p>
        </p:txBody>
      </p:sp>
      <p:sp>
        <p:nvSpPr>
          <p:cNvPr id="15" name="TextBox 14"/>
          <p:cNvSpPr txBox="1"/>
          <p:nvPr/>
        </p:nvSpPr>
        <p:spPr>
          <a:xfrm>
            <a:off x="7086600" y="1801368"/>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PM</a:t>
            </a:r>
          </a:p>
        </p:txBody>
      </p:sp>
      <p:sp>
        <p:nvSpPr>
          <p:cNvPr id="16" name="TextBox 15"/>
          <p:cNvSpPr txBox="1"/>
          <p:nvPr/>
        </p:nvSpPr>
        <p:spPr>
          <a:xfrm>
            <a:off x="7086600" y="2395728"/>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Afternoon attendance recorded.</a:t>
            </a:r>
          </a:p>
        </p:txBody>
      </p:sp>
      <p:sp>
        <p:nvSpPr>
          <p:cNvPr id="17" name="Rounded Rectangle 16"/>
          <p:cNvSpPr/>
          <p:nvPr/>
        </p:nvSpPr>
        <p:spPr>
          <a:xfrm>
            <a:off x="658368"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03320"/>
            <a:ext cx="91440" cy="1901952"/>
          </a:xfrm>
          <a:prstGeom prst="rect">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3959352"/>
            <a:ext cx="438912" cy="438912"/>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3</a:t>
            </a:r>
          </a:p>
        </p:txBody>
      </p:sp>
      <p:sp>
        <p:nvSpPr>
          <p:cNvPr id="21" name="TextBox 20"/>
          <p:cNvSpPr txBox="1"/>
          <p:nvPr/>
        </p:nvSpPr>
        <p:spPr>
          <a:xfrm>
            <a:off x="1527048"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ASSESSMENT</a:t>
            </a:r>
          </a:p>
        </p:txBody>
      </p:sp>
      <p:sp>
        <p:nvSpPr>
          <p:cNvPr id="22" name="TextBox 21"/>
          <p:cNvSpPr txBox="1"/>
          <p:nvPr/>
        </p:nvSpPr>
        <p:spPr>
          <a:xfrm>
            <a:off x="1527048"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Assessment attendance recorded separately.</a:t>
            </a:r>
          </a:p>
        </p:txBody>
      </p:sp>
      <p:sp>
        <p:nvSpPr>
          <p:cNvPr id="23" name="Rounded Rectangle 22"/>
          <p:cNvSpPr/>
          <p:nvPr/>
        </p:nvSpPr>
        <p:spPr>
          <a:xfrm>
            <a:off x="6217920" y="3703320"/>
            <a:ext cx="5303520" cy="1901952"/>
          </a:xfrm>
          <a:prstGeom prst="roundRect">
            <a:avLst/>
          </a:prstGeom>
          <a:solidFill>
            <a:srgbClr val="F4F7FB"/>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703320"/>
            <a:ext cx="91440" cy="1901952"/>
          </a:xfrm>
          <a:prstGeom prst="rect">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3952" y="3959352"/>
            <a:ext cx="438912" cy="438912"/>
          </a:xfrm>
          <a:prstGeom prst="ellipse">
            <a:avLst/>
          </a:prstGeom>
          <a:solidFill>
            <a:srgbClr val="E68300"/>
          </a:solidFill>
          <a:ln>
            <a:solidFill>
              <a:srgbClr val="E6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3977640"/>
            <a:ext cx="438912" cy="329184"/>
          </a:xfrm>
          <a:prstGeom prst="rect">
            <a:avLst/>
          </a:prstGeom>
          <a:noFill/>
        </p:spPr>
        <p:txBody>
          <a:bodyPr wrap="square" lIns="54864" rIns="54864" tIns="54864" bIns="54864" anchor="ctr">
            <a:spAutoFit/>
          </a:bodyPr>
          <a:lstStyle/>
          <a:p>
            <a:pPr algn="ctr"/>
            <a:r>
              <a:rPr sz="1200" b="1" i="0">
                <a:solidFill>
                  <a:srgbClr val="FFFFFF"/>
                </a:solidFill>
                <a:latin typeface="Arial"/>
              </a:rPr>
              <a:t>4</a:t>
            </a:r>
          </a:p>
        </p:txBody>
      </p:sp>
      <p:sp>
        <p:nvSpPr>
          <p:cNvPr id="27" name="TextBox 26"/>
          <p:cNvSpPr txBox="1"/>
          <p:nvPr/>
        </p:nvSpPr>
        <p:spPr>
          <a:xfrm>
            <a:off x="7086600" y="3931920"/>
            <a:ext cx="4069080" cy="502920"/>
          </a:xfrm>
          <a:prstGeom prst="rect">
            <a:avLst/>
          </a:prstGeom>
          <a:noFill/>
        </p:spPr>
        <p:txBody>
          <a:bodyPr wrap="square" lIns="54864" rIns="54864" tIns="54864" bIns="54864" anchor="t">
            <a:spAutoFit/>
          </a:bodyPr>
          <a:lstStyle/>
          <a:p>
            <a:pPr algn="l"/>
            <a:r>
              <a:rPr sz="1700" b="1" i="0">
                <a:solidFill>
                  <a:srgbClr val="131B2A"/>
                </a:solidFill>
                <a:latin typeface="Arial"/>
              </a:rPr>
              <a:t>COMPLETE</a:t>
            </a:r>
          </a:p>
        </p:txBody>
      </p:sp>
      <p:sp>
        <p:nvSpPr>
          <p:cNvPr id="28" name="TextBox 27"/>
          <p:cNvSpPr txBox="1"/>
          <p:nvPr/>
        </p:nvSpPr>
        <p:spPr>
          <a:xfrm>
            <a:off x="7086600" y="4526280"/>
            <a:ext cx="4069080" cy="822960"/>
          </a:xfrm>
          <a:prstGeom prst="rect">
            <a:avLst/>
          </a:prstGeom>
          <a:noFill/>
        </p:spPr>
        <p:txBody>
          <a:bodyPr wrap="square" lIns="54864" rIns="54864" tIns="54864" bIns="54864" anchor="t">
            <a:spAutoFit/>
          </a:bodyPr>
          <a:lstStyle/>
          <a:p>
            <a:pPr algn="l"/>
            <a:r>
              <a:rPr sz="1250" b="0" i="0">
                <a:solidFill>
                  <a:srgbClr val="5C6677"/>
                </a:solidFill>
                <a:latin typeface="Arial"/>
              </a:rPr>
              <a:t>Confirm submission with the trainer before leaving.</a:t>
            </a:r>
          </a:p>
        </p:txBody>
      </p:sp>
      <p:sp>
        <p:nvSpPr>
          <p:cNvPr id="29" name="TextBox 28"/>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30" name="TextBox 29"/>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149</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188720"/>
            <a:ext cx="10789920" cy="914400"/>
          </a:xfrm>
          <a:prstGeom prst="rect">
            <a:avLst/>
          </a:prstGeom>
          <a:noFill/>
        </p:spPr>
        <p:txBody>
          <a:bodyPr wrap="square" lIns="54864" rIns="54864" tIns="54864" bIns="54864" anchor="t">
            <a:spAutoFit/>
          </a:bodyPr>
          <a:lstStyle/>
          <a:p>
            <a:pPr algn="ctr"/>
            <a:r>
              <a:rPr sz="4800" b="1" i="0">
                <a:solidFill>
                  <a:srgbClr val="FFFFFF"/>
                </a:solidFill>
                <a:latin typeface="Arial"/>
              </a:rPr>
              <a:t>Thank You</a:t>
            </a:r>
          </a:p>
        </p:txBody>
      </p:sp>
      <p:sp>
        <p:nvSpPr>
          <p:cNvPr id="4" name="TextBox 3"/>
          <p:cNvSpPr txBox="1"/>
          <p:nvPr/>
        </p:nvSpPr>
        <p:spPr>
          <a:xfrm>
            <a:off x="1097280" y="2423160"/>
            <a:ext cx="9966960" cy="1097280"/>
          </a:xfrm>
          <a:prstGeom prst="rect">
            <a:avLst/>
          </a:prstGeom>
          <a:noFill/>
        </p:spPr>
        <p:txBody>
          <a:bodyPr wrap="square" lIns="54864" rIns="54864" tIns="54864" bIns="54864" anchor="t">
            <a:spAutoFit/>
          </a:bodyPr>
          <a:lstStyle/>
          <a:p>
            <a:pPr algn="ctr"/>
            <a:r>
              <a:rPr sz="2500" b="1" i="0">
                <a:solidFill>
                  <a:srgbClr val="6DDAD7"/>
                </a:solidFill>
                <a:latin typeface="Arial"/>
              </a:rPr>
              <a:t>Make work visible. Invite truth. Help the team adapt.</a:t>
            </a:r>
          </a:p>
        </p:txBody>
      </p:sp>
      <p:sp>
        <p:nvSpPr>
          <p:cNvPr id="5" name="TextBox 4"/>
          <p:cNvSpPr txBox="1"/>
          <p:nvPr/>
        </p:nvSpPr>
        <p:spPr>
          <a:xfrm>
            <a:off x="1097280" y="4160520"/>
            <a:ext cx="9966960" cy="685800"/>
          </a:xfrm>
          <a:prstGeom prst="rect">
            <a:avLst/>
          </a:prstGeom>
          <a:noFill/>
        </p:spPr>
        <p:txBody>
          <a:bodyPr wrap="square" lIns="54864" rIns="54864" tIns="54864" bIns="54864" anchor="t">
            <a:spAutoFit/>
          </a:bodyPr>
          <a:lstStyle/>
          <a:p>
            <a:pPr algn="ctr"/>
            <a:r>
              <a:rPr sz="1400" b="0" i="0">
                <a:solidFill>
                  <a:srgbClr val="D7E0EA"/>
                </a:solidFill>
                <a:latin typeface="Arial"/>
              </a:rPr>
              <a:t>enquiry@tertiaryinfotech.com | +65 6100 0613 | www.tertiarycourses.com.sg</a:t>
            </a:r>
          </a:p>
        </p:txBody>
      </p:sp>
      <p:sp>
        <p:nvSpPr>
          <p:cNvPr id="6" name="TextBox 5"/>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D7E0EA"/>
                </a:solidFill>
                <a:latin typeface="Arial"/>
              </a:rPr>
              <a:t>Scrum Master Fundamentals for High-Performing Teams | TGS-2024045803 | © Tertiary Infotech Academy Pte Ltd</a:t>
            </a:r>
          </a:p>
        </p:txBody>
      </p:sp>
      <p:sp>
        <p:nvSpPr>
          <p:cNvPr id="7" name="TextBox 6"/>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D7E0EA"/>
                </a:solidFill>
                <a:latin typeface="Arial"/>
              </a:rPr>
              <a:t>150</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292608"/>
          </a:xfrm>
          <a:prstGeom prst="rect">
            <a:avLst/>
          </a:prstGeom>
          <a:noFill/>
        </p:spPr>
        <p:txBody>
          <a:bodyPr wrap="square" lIns="54864" rIns="54864" tIns="54864" bIns="54864" anchor="t">
            <a:spAutoFit/>
          </a:bodyPr>
          <a:lstStyle/>
          <a:p>
            <a:pPr algn="l"/>
            <a:r>
              <a:rPr sz="900" b="1" i="0">
                <a:solidFill>
                  <a:srgbClr val="1F6FEB"/>
                </a:solidFill>
                <a:latin typeface="Arial"/>
              </a:rPr>
              <a:t>COURSE PORTAL</a:t>
            </a:r>
          </a:p>
        </p:txBody>
      </p:sp>
      <p:sp>
        <p:nvSpPr>
          <p:cNvPr id="4" name="TextBox 3"/>
          <p:cNvSpPr txBox="1"/>
          <p:nvPr/>
        </p:nvSpPr>
        <p:spPr>
          <a:xfrm>
            <a:off x="594360" y="640080"/>
            <a:ext cx="10972800" cy="822960"/>
          </a:xfrm>
          <a:prstGeom prst="rect">
            <a:avLst/>
          </a:prstGeom>
          <a:noFill/>
        </p:spPr>
        <p:txBody>
          <a:bodyPr wrap="square" lIns="54864" rIns="54864" tIns="54864" bIns="54864" anchor="t">
            <a:spAutoFit/>
          </a:bodyPr>
          <a:lstStyle/>
          <a:p>
            <a:pPr algn="l"/>
            <a:r>
              <a:rPr sz="2800" b="1" i="0">
                <a:solidFill>
                  <a:srgbClr val="131B2A"/>
                </a:solidFill>
                <a:latin typeface="Arial"/>
              </a:rPr>
              <a:t>Login to LMS and Download Course Material</a:t>
            </a:r>
          </a:p>
        </p:txBody>
      </p:sp>
      <p:sp>
        <p:nvSpPr>
          <p:cNvPr id="15" name="TextBox 14"/>
          <p:cNvSpPr txBox="1"/>
          <p:nvPr/>
        </p:nvSpPr>
        <p:spPr>
          <a:xfrm>
            <a:off x="502920" y="6492240"/>
            <a:ext cx="9875520" cy="201168"/>
          </a:xfrm>
          <a:prstGeom prst="rect">
            <a:avLst/>
          </a:prstGeom>
          <a:noFill/>
        </p:spPr>
        <p:txBody>
          <a:bodyPr wrap="square" lIns="54864" rIns="54864" tIns="54864" bIns="54864" anchor="t">
            <a:spAutoFit/>
          </a:bodyPr>
          <a:lstStyle/>
          <a:p>
            <a:pPr algn="l"/>
            <a:r>
              <a:rPr sz="780" b="0" i="0">
                <a:solidFill>
                  <a:srgbClr val="5C6677"/>
                </a:solidFill>
                <a:latin typeface="Arial"/>
              </a:rPr>
              <a:t>Scrum Master Fundamentals for High-Performing Teams | TGS-2024045803 | © Tertiary Infotech Academy Pte Ltd</a:t>
            </a:r>
          </a:p>
        </p:txBody>
      </p:sp>
      <p:sp>
        <p:nvSpPr>
          <p:cNvPr id="16" name="TextBox 15"/>
          <p:cNvSpPr txBox="1"/>
          <p:nvPr/>
        </p:nvSpPr>
        <p:spPr>
          <a:xfrm>
            <a:off x="11018520" y="6473952"/>
            <a:ext cx="658368" cy="228600"/>
          </a:xfrm>
          <a:prstGeom prst="rect">
            <a:avLst/>
          </a:prstGeom>
          <a:noFill/>
        </p:spPr>
        <p:txBody>
          <a:bodyPr wrap="square" lIns="54864" rIns="54864" tIns="54864" bIns="54864" anchor="t">
            <a:spAutoFit/>
          </a:bodyPr>
          <a:lstStyle/>
          <a:p>
            <a:pPr algn="r"/>
            <a:r>
              <a:rPr sz="800" b="0" i="0">
                <a:solidFill>
                  <a:srgbClr val="5C6677"/>
                </a:solidFill>
                <a:latin typeface="Arial"/>
              </a:rPr>
              <a:t>15</a:t>
            </a:r>
          </a:p>
        </p:txBody>
      </p:sp>
      <p:pic>
        <p:nvPicPr>
          <p:cNvPr id="17" name="Picture 16" descr="ref_login.png"/>
          <p:cNvPicPr>
            <a:picLocks noChangeAspect="1"/>
          </p:cNvPicPr>
          <p:nvPr/>
        </p:nvPicPr>
        <p:blipFill>
          <a:blip r:embed="rId3"/>
          <a:stretch>
            <a:fillRect/>
          </a:stretch>
        </p:blipFill>
        <p:spPr>
          <a:xfrm>
            <a:off x="1900635" y="1668780"/>
            <a:ext cx="8390424" cy="4174236"/>
          </a:xfrm>
          <a:prstGeom prst="rect">
            <a:avLst/>
          </a:prstGeom>
          <a:ln w="12700">
            <a:solidFill>
              <a:srgbClr val="E2E8F0"/>
            </a:solidFill>
          </a:ln>
        </p:spPr>
      </p:pic>
      <p:sp>
        <p:nvSpPr>
          <p:cNvPr id="18" name="TextBox 17"/>
          <p:cNvSpPr txBox="1"/>
          <p:nvPr/>
        </p:nvSpPr>
        <p:spPr>
          <a:xfrm>
            <a:off x="609584" y="5925312"/>
            <a:ext cx="10972527"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